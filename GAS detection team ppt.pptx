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0"/>
  </p:notesMasterIdLst>
  <p:sldIdLst>
    <p:sldId id="256" r:id="rId2"/>
    <p:sldId id="257" r:id="rId3"/>
    <p:sldId id="293" r:id="rId4"/>
    <p:sldId id="274" r:id="rId5"/>
    <p:sldId id="259" r:id="rId6"/>
    <p:sldId id="292" r:id="rId7"/>
    <p:sldId id="260" r:id="rId8"/>
    <p:sldId id="291" r:id="rId9"/>
    <p:sldId id="263" r:id="rId10"/>
    <p:sldId id="294" r:id="rId11"/>
    <p:sldId id="295" r:id="rId12"/>
    <p:sldId id="296" r:id="rId13"/>
    <p:sldId id="297" r:id="rId14"/>
    <p:sldId id="298" r:id="rId15"/>
    <p:sldId id="299" r:id="rId16"/>
    <p:sldId id="300" r:id="rId17"/>
    <p:sldId id="301" r:id="rId18"/>
    <p:sldId id="302" r:id="rId19"/>
    <p:sldId id="265" r:id="rId20"/>
    <p:sldId id="303" r:id="rId21"/>
    <p:sldId id="304" r:id="rId22"/>
    <p:sldId id="305" r:id="rId23"/>
    <p:sldId id="306" r:id="rId24"/>
    <p:sldId id="270" r:id="rId25"/>
    <p:sldId id="275" r:id="rId26"/>
    <p:sldId id="276" r:id="rId27"/>
    <p:sldId id="272" r:id="rId28"/>
    <p:sldId id="27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FFD2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0FCC99-EFF1-4E98-9CB3-4D9C6461B132}" v="1" dt="2026-01-26T06:44:47.048"/>
    <p1510:client id="{B9284C66-0FB5-A428-30CC-DD8006B2EFD1}" v="161" dt="2026-01-26T11:43:26.7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536" y="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B9284C66-0FB5-A428-30CC-DD8006B2EFD1}"/>
    <pc:docChg chg="modSld">
      <pc:chgData name="Guest User" userId="" providerId="Windows Live" clId="Web-{B9284C66-0FB5-A428-30CC-DD8006B2EFD1}" dt="2026-01-26T11:43:26.495" v="113" actId="20577"/>
      <pc:docMkLst>
        <pc:docMk/>
      </pc:docMkLst>
      <pc:sldChg chg="addSp delSp modSp">
        <pc:chgData name="Guest User" userId="" providerId="Windows Live" clId="Web-{B9284C66-0FB5-A428-30CC-DD8006B2EFD1}" dt="2026-01-26T11:38:24.554" v="98" actId="14100"/>
        <pc:sldMkLst>
          <pc:docMk/>
          <pc:sldMk cId="2124209153" sldId="294"/>
        </pc:sldMkLst>
        <pc:spChg chg="add del">
          <ac:chgData name="Guest User" userId="" providerId="Windows Live" clId="Web-{B9284C66-0FB5-A428-30CC-DD8006B2EFD1}" dt="2026-01-26T11:27:21.521" v="1"/>
          <ac:spMkLst>
            <pc:docMk/>
            <pc:sldMk cId="2124209153" sldId="294"/>
            <ac:spMk id="5" creationId="{F7D72CC5-00D8-658C-6217-8DD6C101F7DA}"/>
          </ac:spMkLst>
        </pc:spChg>
        <pc:spChg chg="add mod">
          <ac:chgData name="Guest User" userId="" providerId="Windows Live" clId="Web-{B9284C66-0FB5-A428-30CC-DD8006B2EFD1}" dt="2026-01-26T11:38:24.554" v="98" actId="14100"/>
          <ac:spMkLst>
            <pc:docMk/>
            <pc:sldMk cId="2124209153" sldId="294"/>
            <ac:spMk id="7" creationId="{0CF51F16-9063-5066-436E-968EC9816305}"/>
          </ac:spMkLst>
        </pc:spChg>
        <pc:spChg chg="add del mod">
          <ac:chgData name="Guest User" userId="" providerId="Windows Live" clId="Web-{B9284C66-0FB5-A428-30CC-DD8006B2EFD1}" dt="2026-01-26T11:34:40.382" v="67"/>
          <ac:spMkLst>
            <pc:docMk/>
            <pc:sldMk cId="2124209153" sldId="294"/>
            <ac:spMk id="8" creationId="{4AE8ADC2-4BBA-B5C9-15EE-6A905C8EB169}"/>
          </ac:spMkLst>
        </pc:spChg>
        <pc:picChg chg="add del mod">
          <ac:chgData name="Guest User" userId="" providerId="Windows Live" clId="Web-{B9284C66-0FB5-A428-30CC-DD8006B2EFD1}" dt="2026-01-26T11:36:56.085" v="82"/>
          <ac:picMkLst>
            <pc:docMk/>
            <pc:sldMk cId="2124209153" sldId="294"/>
            <ac:picMk id="9" creationId="{05A8589A-96B4-81D2-CE9E-2B05F0960FAB}"/>
          </ac:picMkLst>
        </pc:picChg>
        <pc:picChg chg="add mod">
          <ac:chgData name="Guest User" userId="" providerId="Windows Live" clId="Web-{B9284C66-0FB5-A428-30CC-DD8006B2EFD1}" dt="2026-01-26T11:38:20.007" v="97" actId="14100"/>
          <ac:picMkLst>
            <pc:docMk/>
            <pc:sldMk cId="2124209153" sldId="294"/>
            <ac:picMk id="10" creationId="{5BC4897D-0FA9-D0F2-9976-0DA35F387A42}"/>
          </ac:picMkLst>
        </pc:picChg>
      </pc:sldChg>
      <pc:sldChg chg="addSp modSp">
        <pc:chgData name="Guest User" userId="" providerId="Windows Live" clId="Web-{B9284C66-0FB5-A428-30CC-DD8006B2EFD1}" dt="2026-01-26T11:43:26.495" v="113" actId="20577"/>
        <pc:sldMkLst>
          <pc:docMk/>
          <pc:sldMk cId="2668350181" sldId="295"/>
        </pc:sldMkLst>
        <pc:spChg chg="add mod">
          <ac:chgData name="Guest User" userId="" providerId="Windows Live" clId="Web-{B9284C66-0FB5-A428-30CC-DD8006B2EFD1}" dt="2026-01-26T11:43:26.495" v="113" actId="20577"/>
          <ac:spMkLst>
            <pc:docMk/>
            <pc:sldMk cId="2668350181" sldId="295"/>
            <ac:spMk id="5" creationId="{2D0C3FF3-4558-6E54-2512-AE9DBF4BA8B0}"/>
          </ac:spMkLst>
        </pc:spChg>
      </pc:sldChg>
    </pc:docChg>
  </pc:docChgLst>
  <pc:docChgLst>
    <pc:chgData name="Aravind B" userId="8cb8043629fdb771" providerId="LiveId" clId="{86EBE917-58D1-4E1D-A339-0E144F428ABB}"/>
    <pc:docChg chg="modSld">
      <pc:chgData name="Aravind B" userId="8cb8043629fdb771" providerId="LiveId" clId="{86EBE917-58D1-4E1D-A339-0E144F428ABB}" dt="2026-01-26T06:45:01.546" v="6" actId="1076"/>
      <pc:docMkLst>
        <pc:docMk/>
      </pc:docMkLst>
      <pc:sldChg chg="addSp modSp mod">
        <pc:chgData name="Aravind B" userId="8cb8043629fdb771" providerId="LiveId" clId="{86EBE917-58D1-4E1D-A339-0E144F428ABB}" dt="2026-01-26T06:45:01.546" v="6" actId="1076"/>
        <pc:sldMkLst>
          <pc:docMk/>
          <pc:sldMk cId="1348336485" sldId="292"/>
        </pc:sldMkLst>
        <pc:picChg chg="add mod">
          <ac:chgData name="Aravind B" userId="8cb8043629fdb771" providerId="LiveId" clId="{86EBE917-58D1-4E1D-A339-0E144F428ABB}" dt="2026-01-26T06:45:01.546" v="6" actId="1076"/>
          <ac:picMkLst>
            <pc:docMk/>
            <pc:sldMk cId="1348336485" sldId="292"/>
            <ac:picMk id="7" creationId="{6FAE2C27-761B-0349-98EE-43A05971D12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00B79-0A7F-4909-AFB5-6F64E8A15EBE}" type="datetimeFigureOut">
              <a:rPr lang="en-US" smtClean="0"/>
              <a:t>1/27/2026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26401A-4E65-4C0B-BC8D-189A80FE1EC3}" type="slidenum">
              <a:rPr lang="en-US" smtClean="0"/>
              <a:t>‹#›</a:t>
            </a:fld>
            <a:endParaRPr lang="en-US" dirty="0"/>
          </a:p>
        </p:txBody>
      </p:sp>
    </p:spTree>
    <p:extLst>
      <p:ext uri="{BB962C8B-B14F-4D97-AF65-F5344CB8AC3E}">
        <p14:creationId xmlns:p14="http://schemas.microsoft.com/office/powerpoint/2010/main" val="2450551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6401A-4E65-4C0B-BC8D-189A80FE1EC3}" type="slidenum">
              <a:rPr lang="en-US" smtClean="0"/>
              <a:t>1</a:t>
            </a:fld>
            <a:endParaRPr lang="en-US" dirty="0"/>
          </a:p>
        </p:txBody>
      </p:sp>
    </p:spTree>
    <p:extLst>
      <p:ext uri="{BB962C8B-B14F-4D97-AF65-F5344CB8AC3E}">
        <p14:creationId xmlns:p14="http://schemas.microsoft.com/office/powerpoint/2010/main" val="114508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23E6DE2-E2DA-42DE-97E2-B78A135BE63A}" type="datetime1">
              <a:rPr lang="en-US" smtClean="0"/>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A90EE39-82A8-4ECD-9F2F-122B8BC51252}" type="slidenum">
              <a:rPr lang="en-US" smtClean="0"/>
              <a:t>‹#›</a:t>
            </a:fld>
            <a:endParaRPr lang="en-US" dirty="0"/>
          </a:p>
        </p:txBody>
      </p:sp>
    </p:spTree>
    <p:extLst>
      <p:ext uri="{BB962C8B-B14F-4D97-AF65-F5344CB8AC3E}">
        <p14:creationId xmlns:p14="http://schemas.microsoft.com/office/powerpoint/2010/main" val="2998422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BCCF76-E952-417A-B1A0-A8DB0E1625C2}" type="datetime1">
              <a:rPr lang="en-US" smtClean="0"/>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A90EE39-82A8-4ECD-9F2F-122B8BC51252}" type="slidenum">
              <a:rPr lang="en-US" smtClean="0"/>
              <a:t>‹#›</a:t>
            </a:fld>
            <a:endParaRPr lang="en-US" dirty="0"/>
          </a:p>
        </p:txBody>
      </p:sp>
    </p:spTree>
    <p:extLst>
      <p:ext uri="{BB962C8B-B14F-4D97-AF65-F5344CB8AC3E}">
        <p14:creationId xmlns:p14="http://schemas.microsoft.com/office/powerpoint/2010/main" val="793478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466AA-F7B9-4696-8885-A45E963684C7}" type="datetime1">
              <a:rPr lang="en-US" smtClean="0"/>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A90EE39-82A8-4ECD-9F2F-122B8BC51252}" type="slidenum">
              <a:rPr lang="en-US" smtClean="0"/>
              <a:t>‹#›</a:t>
            </a:fld>
            <a:endParaRPr lang="en-US" dirty="0"/>
          </a:p>
        </p:txBody>
      </p:sp>
    </p:spTree>
    <p:extLst>
      <p:ext uri="{BB962C8B-B14F-4D97-AF65-F5344CB8AC3E}">
        <p14:creationId xmlns:p14="http://schemas.microsoft.com/office/powerpoint/2010/main" val="2138649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2398DB4-E4E9-454D-AF70-30C843F67A3F}" type="datetime1">
              <a:rPr lang="en-US" smtClean="0"/>
              <a:t>1/27/2026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A90EE39-82A8-4ECD-9F2F-122B8BC51252}" type="slidenum">
              <a:rPr lang="en-US" smtClean="0"/>
              <a:t>‹#›</a:t>
            </a:fld>
            <a:endParaRPr lang="en-US" dirty="0"/>
          </a:p>
        </p:txBody>
      </p:sp>
    </p:spTree>
    <p:extLst>
      <p:ext uri="{BB962C8B-B14F-4D97-AF65-F5344CB8AC3E}">
        <p14:creationId xmlns:p14="http://schemas.microsoft.com/office/powerpoint/2010/main" val="3494004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E1EA44-4AA0-4A41-B337-0F91C8FEF893}" type="datetime1">
              <a:rPr lang="en-US" smtClean="0"/>
              <a:t>1/27/2026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A90EE39-82A8-4ECD-9F2F-122B8BC51252}" type="slidenum">
              <a:rPr lang="en-US" smtClean="0"/>
              <a:t>‹#›</a:t>
            </a:fld>
            <a:endParaRPr lang="en-US" dirty="0"/>
          </a:p>
        </p:txBody>
      </p:sp>
    </p:spTree>
    <p:extLst>
      <p:ext uri="{BB962C8B-B14F-4D97-AF65-F5344CB8AC3E}">
        <p14:creationId xmlns:p14="http://schemas.microsoft.com/office/powerpoint/2010/main" val="2064961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4B21629-4D6F-4411-9047-4E02915F350A}" type="datetime1">
              <a:rPr lang="en-US" smtClean="0"/>
              <a:t>1/27/2026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A90EE39-82A8-4ECD-9F2F-122B8BC51252}" type="slidenum">
              <a:rPr lang="en-US" smtClean="0"/>
              <a:t>‹#›</a:t>
            </a:fld>
            <a:endParaRPr lang="en-US" dirty="0"/>
          </a:p>
        </p:txBody>
      </p:sp>
    </p:spTree>
    <p:extLst>
      <p:ext uri="{BB962C8B-B14F-4D97-AF65-F5344CB8AC3E}">
        <p14:creationId xmlns:p14="http://schemas.microsoft.com/office/powerpoint/2010/main" val="638081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DCED73-AF08-4FCA-A198-12E32DCFA9E7}" type="datetime1">
              <a:rPr lang="en-US" smtClean="0"/>
              <a:t>1/27/2026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A90EE39-82A8-4ECD-9F2F-122B8BC51252}" type="slidenum">
              <a:rPr lang="en-US" smtClean="0"/>
              <a:t>‹#›</a:t>
            </a:fld>
            <a:endParaRPr lang="en-US" dirty="0"/>
          </a:p>
        </p:txBody>
      </p:sp>
    </p:spTree>
    <p:extLst>
      <p:ext uri="{BB962C8B-B14F-4D97-AF65-F5344CB8AC3E}">
        <p14:creationId xmlns:p14="http://schemas.microsoft.com/office/powerpoint/2010/main" val="1460030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05711E-9918-47A8-A164-D696AE955DDD}" type="datetime1">
              <a:rPr lang="en-US" smtClean="0"/>
              <a:t>1/27/2026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A90EE39-82A8-4ECD-9F2F-122B8BC51252}" type="slidenum">
              <a:rPr lang="en-US" smtClean="0"/>
              <a:t>‹#›</a:t>
            </a:fld>
            <a:endParaRPr lang="en-US" dirty="0"/>
          </a:p>
        </p:txBody>
      </p:sp>
    </p:spTree>
    <p:extLst>
      <p:ext uri="{BB962C8B-B14F-4D97-AF65-F5344CB8AC3E}">
        <p14:creationId xmlns:p14="http://schemas.microsoft.com/office/powerpoint/2010/main" val="3152209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EC3B455-AA80-4A91-AFB0-CD72578074A7}" type="datetime1">
              <a:rPr lang="en-US" smtClean="0"/>
              <a:t>1/27/2026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A90EE39-82A8-4ECD-9F2F-122B8BC51252}" type="slidenum">
              <a:rPr lang="en-US" smtClean="0"/>
              <a:t>‹#›</a:t>
            </a:fld>
            <a:endParaRPr lang="en-US" dirty="0"/>
          </a:p>
        </p:txBody>
      </p:sp>
    </p:spTree>
    <p:extLst>
      <p:ext uri="{BB962C8B-B14F-4D97-AF65-F5344CB8AC3E}">
        <p14:creationId xmlns:p14="http://schemas.microsoft.com/office/powerpoint/2010/main" val="2059768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F2A13A-BCA0-4AC9-91C8-9E2F7797243C}" type="datetime1">
              <a:rPr lang="en-US" smtClean="0"/>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A90EE39-82A8-4ECD-9F2F-122B8BC51252}" type="slidenum">
              <a:rPr lang="en-US" smtClean="0"/>
              <a:t>‹#›</a:t>
            </a:fld>
            <a:endParaRPr lang="en-US" dirty="0"/>
          </a:p>
        </p:txBody>
      </p:sp>
    </p:spTree>
    <p:extLst>
      <p:ext uri="{BB962C8B-B14F-4D97-AF65-F5344CB8AC3E}">
        <p14:creationId xmlns:p14="http://schemas.microsoft.com/office/powerpoint/2010/main" val="3718381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FC2BF60-F578-4340-B37B-71F70ACBC571}" type="datetime1">
              <a:rPr lang="en-US" smtClean="0"/>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A90EE39-82A8-4ECD-9F2F-122B8BC51252}" type="slidenum">
              <a:rPr lang="en-US" smtClean="0"/>
              <a:t>‹#›</a:t>
            </a:fld>
            <a:endParaRPr lang="en-US" dirty="0"/>
          </a:p>
        </p:txBody>
      </p:sp>
    </p:spTree>
    <p:extLst>
      <p:ext uri="{BB962C8B-B14F-4D97-AF65-F5344CB8AC3E}">
        <p14:creationId xmlns:p14="http://schemas.microsoft.com/office/powerpoint/2010/main" val="830105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6BC077-560D-4127-A131-07124CF17EAE}" type="datetime1">
              <a:rPr lang="en-US" smtClean="0"/>
              <a:t>1/27/2026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90EE39-82A8-4ECD-9F2F-122B8BC51252}" type="slidenum">
              <a:rPr lang="en-US" smtClean="0"/>
              <a:t>‹#›</a:t>
            </a:fld>
            <a:endParaRPr lang="en-US" dirty="0"/>
          </a:p>
        </p:txBody>
      </p:sp>
    </p:spTree>
    <p:extLst>
      <p:ext uri="{BB962C8B-B14F-4D97-AF65-F5344CB8AC3E}">
        <p14:creationId xmlns:p14="http://schemas.microsoft.com/office/powerpoint/2010/main" val="414624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66032" y="0"/>
            <a:ext cx="11309040" cy="1323439"/>
          </a:xfrm>
          <a:prstGeom prst="rect">
            <a:avLst/>
          </a:prstGeom>
          <a:noFill/>
        </p:spPr>
        <p:txBody>
          <a:bodyPr wrap="square" rtlCol="0">
            <a:spAutoFit/>
          </a:bodyPr>
          <a:lstStyle/>
          <a:p>
            <a:pPr algn="ctr"/>
            <a:r>
              <a:rPr lang="en-US" sz="3600" b="1" dirty="0">
                <a:solidFill>
                  <a:srgbClr val="7030A0"/>
                </a:solidFill>
                <a:latin typeface="Cambria" panose="02040503050406030204" pitchFamily="18" charset="0"/>
                <a:ea typeface="Cambria" panose="02040503050406030204" pitchFamily="18" charset="0"/>
              </a:rPr>
              <a:t>RAJALAKSHMI ENGINEERING COLLEGE</a:t>
            </a:r>
          </a:p>
          <a:p>
            <a:pPr algn="ctr"/>
            <a:r>
              <a:rPr lang="en-US" sz="1600" b="1" i="1" dirty="0">
                <a:latin typeface="Cambria" panose="02040503050406030204" pitchFamily="18" charset="0"/>
                <a:ea typeface="Cambria" panose="02040503050406030204" pitchFamily="18" charset="0"/>
              </a:rPr>
              <a:t>(AUTONOMOUS), CHENNAI</a:t>
            </a:r>
          </a:p>
          <a:p>
            <a:pPr algn="ctr"/>
            <a:r>
              <a:rPr lang="en-US" sz="2800" b="1" spc="300" dirty="0">
                <a:solidFill>
                  <a:srgbClr val="7030A0"/>
                </a:solidFill>
                <a:latin typeface="Cambria" panose="02040503050406030204" pitchFamily="18" charset="0"/>
                <a:ea typeface="Cambria" panose="02040503050406030204" pitchFamily="18" charset="0"/>
              </a:rPr>
              <a:t>DEPARTMENT OF MECHANICAL ENGINEERING</a:t>
            </a:r>
          </a:p>
        </p:txBody>
      </p:sp>
      <p:sp>
        <p:nvSpPr>
          <p:cNvPr id="8" name="TextBox 7"/>
          <p:cNvSpPr txBox="1"/>
          <p:nvPr/>
        </p:nvSpPr>
        <p:spPr>
          <a:xfrm>
            <a:off x="434268" y="5719259"/>
            <a:ext cx="11323463" cy="430887"/>
          </a:xfrm>
          <a:prstGeom prst="rect">
            <a:avLst/>
          </a:prstGeom>
          <a:solidFill>
            <a:schemeClr val="accent4">
              <a:lumMod val="60000"/>
              <a:lumOff val="40000"/>
            </a:schemeClr>
          </a:solidFill>
        </p:spPr>
        <p:txBody>
          <a:bodyPr wrap="square" rtlCol="0">
            <a:spAutoFit/>
          </a:bodyPr>
          <a:lstStyle/>
          <a:p>
            <a:pPr algn="ctr"/>
            <a:r>
              <a:rPr lang="en-US" sz="2200" b="1" dirty="0">
                <a:latin typeface="Cambria" panose="02040503050406030204" pitchFamily="18" charset="0"/>
                <a:ea typeface="Cambria" panose="02040503050406030204" pitchFamily="18" charset="0"/>
              </a:rPr>
              <a:t>PROJECT PRESENTATION – ZEROTH / FIRST /SECOND / THIRD / FINAL REVIEW</a:t>
            </a:r>
            <a:endParaRPr lang="en-US" sz="2200" b="1" spc="300" dirty="0">
              <a:latin typeface="Cambria" panose="02040503050406030204" pitchFamily="18" charset="0"/>
              <a:ea typeface="Cambria" panose="02040503050406030204" pitchFamily="18" charset="0"/>
            </a:endParaRPr>
          </a:p>
        </p:txBody>
      </p:sp>
      <p:sp>
        <p:nvSpPr>
          <p:cNvPr id="9" name="TextBox 8"/>
          <p:cNvSpPr txBox="1"/>
          <p:nvPr/>
        </p:nvSpPr>
        <p:spPr>
          <a:xfrm>
            <a:off x="306753" y="1386873"/>
            <a:ext cx="11450978" cy="584775"/>
          </a:xfrm>
          <a:prstGeom prst="rect">
            <a:avLst/>
          </a:prstGeom>
          <a:noFill/>
        </p:spPr>
        <p:txBody>
          <a:bodyPr wrap="square" rtlCol="0">
            <a:spAutoFit/>
          </a:bodyPr>
          <a:lstStyle/>
          <a:p>
            <a:pPr algn="ctr">
              <a:spcBef>
                <a:spcPct val="0"/>
              </a:spcBef>
            </a:pPr>
            <a:r>
              <a:rPr lang="en-US" altLang="en-US" sz="3200" b="1" dirty="0">
                <a:solidFill>
                  <a:srgbClr val="00B050"/>
                </a:solidFill>
                <a:latin typeface="Arial Narrow" panose="020B0606020202030204" pitchFamily="34" charset="0"/>
              </a:rPr>
              <a:t>GE23627– DESIGN THINKING AND INNOVATION</a:t>
            </a:r>
          </a:p>
        </p:txBody>
      </p:sp>
      <p:sp>
        <p:nvSpPr>
          <p:cNvPr id="10" name="TextBox 9"/>
          <p:cNvSpPr txBox="1"/>
          <p:nvPr/>
        </p:nvSpPr>
        <p:spPr>
          <a:xfrm>
            <a:off x="6633" y="3120543"/>
            <a:ext cx="12168439" cy="1554272"/>
          </a:xfrm>
          <a:prstGeom prst="rect">
            <a:avLst/>
          </a:prstGeom>
          <a:noFill/>
        </p:spPr>
        <p:txBody>
          <a:bodyPr wrap="square" rtlCol="0">
            <a:spAutoFit/>
          </a:bodyPr>
          <a:lstStyle/>
          <a:p>
            <a:pPr algn="ctr">
              <a:spcAft>
                <a:spcPts val="600"/>
              </a:spcAft>
            </a:pPr>
            <a:r>
              <a:rPr lang="en-US" sz="2000" b="1" u="sng" dirty="0">
                <a:solidFill>
                  <a:srgbClr val="002060"/>
                </a:solidFill>
                <a:latin typeface="Cambria" panose="02040503050406030204" pitchFamily="18" charset="0"/>
                <a:ea typeface="Cambria" panose="02040503050406030204" pitchFamily="18" charset="0"/>
              </a:rPr>
              <a:t>STUDENTS:</a:t>
            </a:r>
          </a:p>
          <a:p>
            <a:pPr marL="342900" indent="-342900" algn="ctr">
              <a:spcAft>
                <a:spcPts val="600"/>
              </a:spcAft>
              <a:buAutoNum type="arabicPeriod"/>
            </a:pPr>
            <a:r>
              <a:rPr lang="en-US" sz="2000" b="1" dirty="0">
                <a:solidFill>
                  <a:srgbClr val="002060"/>
                </a:solidFill>
                <a:latin typeface="Cambria" panose="02040503050406030204" pitchFamily="18" charset="0"/>
                <a:ea typeface="Cambria" panose="02040503050406030204" pitchFamily="18" charset="0"/>
              </a:rPr>
              <a:t>ARAVIND B (231101011)</a:t>
            </a:r>
          </a:p>
          <a:p>
            <a:pPr marL="342900" indent="-342900" algn="ctr">
              <a:spcAft>
                <a:spcPts val="600"/>
              </a:spcAft>
              <a:buAutoNum type="arabicPeriod"/>
            </a:pPr>
            <a:r>
              <a:rPr lang="en-US" sz="2000" b="1" dirty="0">
                <a:solidFill>
                  <a:srgbClr val="002060"/>
                </a:solidFill>
                <a:latin typeface="Cambria" panose="02040503050406030204" pitchFamily="18" charset="0"/>
                <a:ea typeface="Cambria" panose="02040503050406030204" pitchFamily="18" charset="0"/>
              </a:rPr>
              <a:t>KANISHK H (231101036)</a:t>
            </a:r>
          </a:p>
          <a:p>
            <a:pPr marL="342900" indent="-342900" algn="ctr">
              <a:spcAft>
                <a:spcPts val="600"/>
              </a:spcAft>
              <a:buAutoNum type="arabicPeriod"/>
            </a:pPr>
            <a:r>
              <a:rPr lang="en-US" sz="2000" b="1" dirty="0">
                <a:solidFill>
                  <a:srgbClr val="002060"/>
                </a:solidFill>
                <a:latin typeface="Cambria" panose="02040503050406030204" pitchFamily="18" charset="0"/>
                <a:ea typeface="Cambria" panose="02040503050406030204" pitchFamily="18" charset="0"/>
              </a:rPr>
              <a:t>DAVIS ROWAN V (231101016)</a:t>
            </a:r>
          </a:p>
        </p:txBody>
      </p:sp>
      <p:sp>
        <p:nvSpPr>
          <p:cNvPr id="11" name="TextBox 10"/>
          <p:cNvSpPr txBox="1"/>
          <p:nvPr/>
        </p:nvSpPr>
        <p:spPr>
          <a:xfrm>
            <a:off x="0" y="4595489"/>
            <a:ext cx="12205266" cy="1138773"/>
          </a:xfrm>
          <a:prstGeom prst="rect">
            <a:avLst/>
          </a:prstGeom>
          <a:noFill/>
        </p:spPr>
        <p:txBody>
          <a:bodyPr wrap="square" rtlCol="0">
            <a:spAutoFit/>
          </a:bodyPr>
          <a:lstStyle/>
          <a:p>
            <a:pPr algn="ctr"/>
            <a:r>
              <a:rPr lang="en-US" sz="2000" b="1" u="sng" dirty="0">
                <a:solidFill>
                  <a:srgbClr val="7030A0"/>
                </a:solidFill>
                <a:latin typeface="Cambria" panose="02040503050406030204" pitchFamily="18" charset="0"/>
                <a:ea typeface="Cambria" panose="02040503050406030204" pitchFamily="18" charset="0"/>
              </a:rPr>
              <a:t>GUIDED BY:</a:t>
            </a:r>
          </a:p>
          <a:p>
            <a:pPr algn="ctr"/>
            <a:r>
              <a:rPr lang="pt-BR" sz="2400" b="1" dirty="0">
                <a:solidFill>
                  <a:srgbClr val="7030A0"/>
                </a:solidFill>
                <a:latin typeface="Cambria" panose="02040503050406030204" pitchFamily="18" charset="0"/>
                <a:ea typeface="Cambria" panose="02040503050406030204" pitchFamily="18" charset="0"/>
              </a:rPr>
              <a:t>SHANKAR E </a:t>
            </a:r>
          </a:p>
          <a:p>
            <a:pPr algn="ctr"/>
            <a:r>
              <a:rPr lang="pt-BR" sz="2400" b="1" dirty="0">
                <a:solidFill>
                  <a:srgbClr val="7030A0"/>
                </a:solidFill>
                <a:latin typeface="Cambria" panose="02040503050406030204" pitchFamily="18" charset="0"/>
                <a:ea typeface="Cambria" panose="02040503050406030204" pitchFamily="18" charset="0"/>
              </a:rPr>
              <a:t>AOP</a:t>
            </a:r>
            <a:endParaRPr lang="en-US" sz="2000" b="1" u="sng" spc="300" dirty="0">
              <a:solidFill>
                <a:srgbClr val="7030A0"/>
              </a:solidFill>
              <a:latin typeface="Cambria" panose="02040503050406030204" pitchFamily="18" charset="0"/>
              <a:ea typeface="Cambria" panose="02040503050406030204" pitchFamily="18" charset="0"/>
            </a:endParaRPr>
          </a:p>
        </p:txBody>
      </p:sp>
      <p:sp>
        <p:nvSpPr>
          <p:cNvPr id="12" name="TextBox 11"/>
          <p:cNvSpPr txBox="1"/>
          <p:nvPr/>
        </p:nvSpPr>
        <p:spPr>
          <a:xfrm>
            <a:off x="6633" y="6162139"/>
            <a:ext cx="12192000" cy="646331"/>
          </a:xfrm>
          <a:prstGeom prst="rect">
            <a:avLst/>
          </a:prstGeom>
          <a:noFill/>
        </p:spPr>
        <p:txBody>
          <a:bodyPr wrap="square" rtlCol="0">
            <a:spAutoFit/>
          </a:bodyPr>
          <a:lstStyle/>
          <a:p>
            <a:r>
              <a:rPr lang="en-US" b="1" i="1"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Venue: </a:t>
            </a:r>
            <a:r>
              <a:rPr lang="en-US" b="1" i="1" dirty="0">
                <a:latin typeface="Cambria" panose="02040503050406030204" pitchFamily="18" charset="0"/>
                <a:ea typeface="Cambria" panose="02040503050406030204" pitchFamily="18" charset="0"/>
              </a:rPr>
              <a:t>Department Of Mechanical Engineering, REC</a:t>
            </a:r>
          </a:p>
          <a:p>
            <a:r>
              <a:rPr lang="en-US" b="1" i="1" spc="300"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Date:27/01/2026</a:t>
            </a:r>
            <a:endParaRPr lang="en-US" b="1" i="1" spc="300" dirty="0">
              <a:latin typeface="Cambria" panose="02040503050406030204" pitchFamily="18" charset="0"/>
              <a:ea typeface="Cambria" panose="02040503050406030204" pitchFamily="18" charset="0"/>
            </a:endParaRPr>
          </a:p>
        </p:txBody>
      </p:sp>
      <p:sp>
        <p:nvSpPr>
          <p:cNvPr id="13" name="TextBox 12"/>
          <p:cNvSpPr txBox="1"/>
          <p:nvPr/>
        </p:nvSpPr>
        <p:spPr>
          <a:xfrm>
            <a:off x="377144" y="1967337"/>
            <a:ext cx="11450978" cy="1077218"/>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sz="3200" b="1" u="sng" dirty="0">
                <a:solidFill>
                  <a:srgbClr val="FF0000"/>
                </a:solidFill>
                <a:latin typeface="Cambria" panose="02040503050406030204" pitchFamily="18" charset="0"/>
                <a:ea typeface="Cambria" panose="02040503050406030204" pitchFamily="18" charset="0"/>
              </a:rPr>
              <a:t>PROJECT TITLE:IOT-Enabled Smart Gas Detection and Autonomous Shut-off System </a:t>
            </a:r>
            <a:endParaRPr lang="en-IN" sz="3200" u="sng" dirty="0">
              <a:solidFill>
                <a:srgbClr val="FF0000"/>
              </a:solidFill>
              <a:latin typeface="Cambria" panose="02040503050406030204" pitchFamily="18" charset="0"/>
              <a:ea typeface="Cambria" panose="02040503050406030204" pitchFamily="18" charset="0"/>
            </a:endParaRPr>
          </a:p>
        </p:txBody>
      </p:sp>
      <p:sp>
        <p:nvSpPr>
          <p:cNvPr id="7" name="Rectangle 6"/>
          <p:cNvSpPr/>
          <p:nvPr/>
        </p:nvSpPr>
        <p:spPr>
          <a:xfrm>
            <a:off x="23561" y="3737457"/>
            <a:ext cx="1885546" cy="630620"/>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ln>
                  <a:solidFill>
                    <a:schemeClr val="accent6">
                      <a:lumMod val="75000"/>
                    </a:schemeClr>
                  </a:solidFill>
                </a:ln>
                <a:solidFill>
                  <a:srgbClr val="00B050"/>
                </a:solidFill>
                <a:latin typeface="Cambria" panose="02040503050406030204" pitchFamily="18" charset="0"/>
                <a:ea typeface="Cambria" panose="02040503050406030204" pitchFamily="18" charset="0"/>
              </a:rPr>
              <a:t>BATCH NO:</a:t>
            </a:r>
          </a:p>
        </p:txBody>
      </p:sp>
      <p:sp>
        <p:nvSpPr>
          <p:cNvPr id="15" name="12-Point Star 14"/>
          <p:cNvSpPr/>
          <p:nvPr/>
        </p:nvSpPr>
        <p:spPr>
          <a:xfrm>
            <a:off x="1741251" y="3460439"/>
            <a:ext cx="1459148" cy="1217814"/>
          </a:xfrm>
          <a:prstGeom prst="star12">
            <a:avLst/>
          </a:prstGeom>
          <a:solidFill>
            <a:srgbClr val="00B05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atin typeface="Cambria" panose="02040503050406030204" pitchFamily="18" charset="0"/>
                <a:ea typeface="Cambria" panose="02040503050406030204" pitchFamily="18" charset="0"/>
              </a:rPr>
              <a:t>57</a:t>
            </a:r>
          </a:p>
        </p:txBody>
      </p:sp>
      <p:pic>
        <p:nvPicPr>
          <p:cNvPr id="3" name="Graphic 2">
            <a:extLst>
              <a:ext uri="{FF2B5EF4-FFF2-40B4-BE49-F238E27FC236}">
                <a16:creationId xmlns:a16="http://schemas.microsoft.com/office/drawing/2014/main" id="{F603F475-7100-4B49-6714-32A7D4EDDB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2375" y="0"/>
            <a:ext cx="2743200" cy="885825"/>
          </a:xfrm>
          <a:prstGeom prst="rect">
            <a:avLst/>
          </a:prstGeom>
        </p:spPr>
      </p:pic>
    </p:spTree>
    <p:extLst>
      <p:ext uri="{BB962C8B-B14F-4D97-AF65-F5344CB8AC3E}">
        <p14:creationId xmlns:p14="http://schemas.microsoft.com/office/powerpoint/2010/main" val="2132409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923982180"/>
              </p:ext>
            </p:extLst>
          </p:nvPr>
        </p:nvGraphicFramePr>
        <p:xfrm>
          <a:off x="0" y="583322"/>
          <a:ext cx="6095999" cy="5813509"/>
        </p:xfrm>
        <a:graphic>
          <a:graphicData uri="http://schemas.openxmlformats.org/drawingml/2006/table">
            <a:tbl>
              <a:tblPr firstRow="1" bandRow="1">
                <a:tableStyleId>{616DA210-FB5B-4158-B5E0-FEB733F419BA}</a:tableStyleId>
              </a:tblPr>
              <a:tblGrid>
                <a:gridCol w="602794">
                  <a:extLst>
                    <a:ext uri="{9D8B030D-6E8A-4147-A177-3AD203B41FA5}">
                      <a16:colId xmlns:a16="http://schemas.microsoft.com/office/drawing/2014/main" val="20001"/>
                    </a:ext>
                  </a:extLst>
                </a:gridCol>
                <a:gridCol w="5493205">
                  <a:extLst>
                    <a:ext uri="{9D8B030D-6E8A-4147-A177-3AD203B41FA5}">
                      <a16:colId xmlns:a16="http://schemas.microsoft.com/office/drawing/2014/main" val="20002"/>
                    </a:ext>
                  </a:extLst>
                </a:gridCol>
              </a:tblGrid>
              <a:tr h="5275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1.</a:t>
                      </a:r>
                      <a:endParaRPr lang="en-US" sz="2000" b="1" i="0" dirty="0">
                        <a:solidFill>
                          <a:schemeClr val="tx1"/>
                        </a:solidFill>
                        <a:latin typeface="Cambria" panose="02040503050406030204" pitchFamily="18" charset="0"/>
                        <a:ea typeface="Cambria" panose="020405030504060302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Problem Definition  </a:t>
                      </a:r>
                      <a:r>
                        <a:rPr lang="en-US" sz="2000" b="1" dirty="0">
                          <a:solidFill>
                            <a:srgbClr val="FF0000"/>
                          </a:solidFill>
                        </a:rPr>
                        <a:t>(4)</a:t>
                      </a:r>
                      <a:endParaRPr lang="en-US" sz="2000" b="1" dirty="0">
                        <a:solidFill>
                          <a:srgbClr val="FF0000"/>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001"/>
                  </a:ext>
                </a:extLst>
              </a:tr>
              <a:tr h="52721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2.</a:t>
                      </a:r>
                      <a:endParaRPr lang="en-US" sz="2000" b="1" i="0" dirty="0">
                        <a:solidFill>
                          <a:schemeClr val="tx1"/>
                        </a:solidFill>
                        <a:latin typeface="Cambria" panose="02040503050406030204" pitchFamily="18" charset="0"/>
                        <a:ea typeface="Cambria" panose="020405030504060302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1" dirty="0"/>
                        <a:t>EMPATHIZE : </a:t>
                      </a:r>
                      <a:r>
                        <a:rPr lang="en-US" sz="2000" b="1" dirty="0">
                          <a:solidFill>
                            <a:srgbClr val="FF0000"/>
                          </a:solidFill>
                        </a:rPr>
                        <a:t>(5)</a:t>
                      </a:r>
                      <a:endParaRPr lang="en-US" sz="2000" b="1" i="1" dirty="0">
                        <a:solidFill>
                          <a:srgbClr val="FF0000"/>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002"/>
                  </a:ext>
                </a:extLst>
              </a:tr>
              <a:tr h="50838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3.</a:t>
                      </a:r>
                      <a:endParaRPr lang="en-US" sz="2000" b="1" i="0" dirty="0">
                        <a:solidFill>
                          <a:schemeClr val="tx1"/>
                        </a:solidFill>
                        <a:latin typeface="Cambria" panose="02040503050406030204" pitchFamily="18" charset="0"/>
                        <a:ea typeface="Cambria" panose="020405030504060302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t>Problem Context &amp; Background </a:t>
                      </a:r>
                      <a:r>
                        <a:rPr lang="en-US" sz="2000" b="1" dirty="0">
                          <a:solidFill>
                            <a:srgbClr val="FF0000"/>
                          </a:solidFill>
                        </a:rPr>
                        <a:t>(6)</a:t>
                      </a:r>
                      <a:endParaRPr lang="en-US" sz="2000" b="1" i="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003"/>
                  </a:ext>
                </a:extLst>
              </a:tr>
              <a:tr h="51779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4.</a:t>
                      </a:r>
                      <a:endParaRPr lang="en-US" sz="2000" b="1" i="0" dirty="0">
                        <a:solidFill>
                          <a:schemeClr val="tx1"/>
                        </a:solidFill>
                        <a:latin typeface="Cambria" panose="02040503050406030204" pitchFamily="18" charset="0"/>
                        <a:ea typeface="Cambria" panose="020405030504060302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t>Literature Survey &amp; Field Study </a:t>
                      </a:r>
                      <a:r>
                        <a:rPr lang="en-US" sz="2000" b="1" dirty="0">
                          <a:solidFill>
                            <a:srgbClr val="FF0000"/>
                          </a:solidFill>
                        </a:rPr>
                        <a:t>(7)</a:t>
                      </a:r>
                      <a:endParaRPr lang="en-US" sz="2000" b="1" i="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004"/>
                  </a:ext>
                </a:extLst>
              </a:tr>
              <a:tr h="4707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5.</a:t>
                      </a:r>
                      <a:endParaRPr lang="en-US" sz="2000" b="1" i="0" dirty="0">
                        <a:solidFill>
                          <a:schemeClr val="tx1"/>
                        </a:solidFill>
                        <a:latin typeface="Cambria" panose="02040503050406030204" pitchFamily="18" charset="0"/>
                        <a:ea typeface="Cambria" panose="020405030504060302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DEFINE : </a:t>
                      </a:r>
                      <a:r>
                        <a:rPr lang="en-US" sz="2000" b="1" dirty="0">
                          <a:solidFill>
                            <a:srgbClr val="FF0000"/>
                          </a:solidFill>
                        </a:rPr>
                        <a:t>(9)</a:t>
                      </a:r>
                      <a:endParaRPr lang="en-US" sz="2000" b="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005"/>
                  </a:ext>
                </a:extLst>
              </a:tr>
              <a:tr h="4671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6.</a:t>
                      </a:r>
                      <a:endParaRPr lang="en-US" sz="2000" b="1" i="0" dirty="0">
                        <a:solidFill>
                          <a:schemeClr val="tx1"/>
                        </a:solidFill>
                        <a:latin typeface="Cambria" panose="02040503050406030204" pitchFamily="18" charset="0"/>
                        <a:ea typeface="Cambria" panose="020405030504060302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Structured Problem Definition </a:t>
                      </a:r>
                      <a:r>
                        <a:rPr lang="en-US" sz="2000" b="1" dirty="0">
                          <a:solidFill>
                            <a:srgbClr val="FF0000"/>
                          </a:solidFill>
                        </a:rPr>
                        <a:t>(10)</a:t>
                      </a:r>
                      <a:endParaRPr lang="en-US" sz="2000" b="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006"/>
                  </a:ext>
                </a:extLst>
              </a:tr>
              <a:tr h="4671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7.</a:t>
                      </a:r>
                      <a:endParaRPr lang="en-US" sz="2000" b="1" i="0" dirty="0">
                        <a:solidFill>
                          <a:schemeClr val="tx1"/>
                        </a:solidFill>
                        <a:latin typeface="Cambria" panose="02040503050406030204" pitchFamily="18" charset="0"/>
                        <a:ea typeface="Cambria" panose="020405030504060302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t>User Persona &amp; Journey</a:t>
                      </a:r>
                      <a:r>
                        <a:rPr lang="en-IN" sz="2000" b="1" dirty="0"/>
                        <a:t> </a:t>
                      </a:r>
                      <a:r>
                        <a:rPr lang="en-US" sz="2000" b="1" dirty="0">
                          <a:solidFill>
                            <a:srgbClr val="FF0000"/>
                          </a:solidFill>
                        </a:rPr>
                        <a:t>(slide no. ……..)</a:t>
                      </a:r>
                      <a:endParaRPr lang="en-US" sz="2000" b="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007"/>
                  </a:ext>
                </a:extLst>
              </a:tr>
              <a:tr h="45908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8.</a:t>
                      </a:r>
                      <a:endParaRPr lang="en-US" sz="2000" b="1" i="0" dirty="0">
                        <a:solidFill>
                          <a:schemeClr val="tx1"/>
                        </a:solidFill>
                        <a:latin typeface="Cambria" panose="02040503050406030204" pitchFamily="18" charset="0"/>
                        <a:ea typeface="Cambria" panose="020405030504060302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IDEATE:  </a:t>
                      </a:r>
                      <a:r>
                        <a:rPr lang="en-US" sz="2000" b="1" dirty="0">
                          <a:solidFill>
                            <a:srgbClr val="FF0000"/>
                          </a:solidFill>
                        </a:rPr>
                        <a:t>(slide no. ………)</a:t>
                      </a:r>
                      <a:endParaRPr lang="en-US" sz="2000" b="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008"/>
                  </a:ext>
                </a:extLst>
              </a:tr>
              <a:tr h="4671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9.</a:t>
                      </a:r>
                      <a:endParaRPr lang="en-US" sz="2000" b="1" i="0" dirty="0">
                        <a:solidFill>
                          <a:schemeClr val="tx1"/>
                        </a:solidFill>
                        <a:latin typeface="Cambria" panose="02040503050406030204" pitchFamily="18" charset="0"/>
                        <a:ea typeface="Cambria" panose="020405030504060302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t>Ideation &amp; Concept Generation  </a:t>
                      </a:r>
                      <a:r>
                        <a:rPr lang="en-US" sz="2000" b="1" dirty="0">
                          <a:solidFill>
                            <a:srgbClr val="FF0000"/>
                          </a:solidFill>
                        </a:rPr>
                        <a:t>(slide no..)</a:t>
                      </a:r>
                      <a:endParaRPr lang="en-US" sz="2000" b="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009"/>
                  </a:ext>
                </a:extLst>
              </a:tr>
              <a:tr h="4671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t>Concept Selection</a:t>
                      </a:r>
                      <a:r>
                        <a:rPr lang="en-US" sz="2000" b="0" dirty="0">
                          <a:solidFill>
                            <a:schemeClr val="tx1"/>
                          </a:solidFill>
                        </a:rPr>
                        <a:t> </a:t>
                      </a:r>
                      <a:r>
                        <a:rPr lang="en-US" sz="2000" b="1" dirty="0">
                          <a:solidFill>
                            <a:srgbClr val="FF0000"/>
                          </a:solidFill>
                        </a:rPr>
                        <a:t>(slide no. ……….)</a:t>
                      </a:r>
                      <a:endParaRPr lang="en-US" sz="2000" b="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858829406"/>
                  </a:ext>
                </a:extLst>
              </a:tr>
              <a:tr h="467128">
                <a:tc>
                  <a:txBody>
                    <a:bodyPr/>
                    <a:lstStyle/>
                    <a:p>
                      <a:pPr algn="ctr">
                        <a:spcAft>
                          <a:spcPts val="0"/>
                        </a:spcAft>
                      </a:pPr>
                      <a:r>
                        <a:rPr lang="en-US" sz="2000" b="1" dirty="0">
                          <a:solidFill>
                            <a:schemeClr val="tx1"/>
                          </a:solidFill>
                        </a:rPr>
                        <a:t>11.</a:t>
                      </a:r>
                      <a:endParaRPr lang="en-US" sz="2000" b="1" i="0" dirty="0">
                        <a:solidFill>
                          <a:schemeClr val="tx1"/>
                        </a:solidFill>
                        <a:latin typeface="Cambria" panose="02040503050406030204" pitchFamily="18" charset="0"/>
                        <a:ea typeface="Cambria" panose="02040503050406030204" pitchFamily="18" charset="0"/>
                      </a:endParaRPr>
                    </a:p>
                  </a:txBody>
                  <a:tcPr anchor="ctr"/>
                </a:tc>
                <a:tc>
                  <a:txBody>
                    <a:bodyPr/>
                    <a:lstStyle/>
                    <a:p>
                      <a:pPr>
                        <a:spcAft>
                          <a:spcPts val="0"/>
                        </a:spcAft>
                      </a:pPr>
                      <a:r>
                        <a:rPr lang="en-IN" sz="2000" b="1" dirty="0"/>
                        <a:t>PROTOTYPE: </a:t>
                      </a:r>
                      <a:r>
                        <a:rPr lang="en-US" sz="2000" b="1" dirty="0">
                          <a:solidFill>
                            <a:schemeClr val="tx1"/>
                          </a:solidFill>
                        </a:rPr>
                        <a:t> </a:t>
                      </a:r>
                      <a:r>
                        <a:rPr lang="en-US" sz="2000" b="0" dirty="0">
                          <a:solidFill>
                            <a:srgbClr val="FF0000"/>
                          </a:solidFill>
                        </a:rPr>
                        <a:t>(slide no. ……………..)</a:t>
                      </a:r>
                      <a:endParaRPr lang="en-US" sz="2000" b="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798709529"/>
                  </a:ext>
                </a:extLst>
              </a:tr>
              <a:tr h="467128">
                <a:tc>
                  <a:txBody>
                    <a:bodyPr/>
                    <a:lstStyle/>
                    <a:p>
                      <a:pPr algn="ctr">
                        <a:spcAft>
                          <a:spcPts val="0"/>
                        </a:spcAft>
                      </a:pPr>
                      <a:r>
                        <a:rPr lang="en-US" sz="2000" b="1" dirty="0">
                          <a:solidFill>
                            <a:schemeClr val="tx1"/>
                          </a:solidFill>
                        </a:rPr>
                        <a:t>12.</a:t>
                      </a:r>
                      <a:endParaRPr lang="en-US" sz="2000" b="1" i="0" dirty="0">
                        <a:solidFill>
                          <a:schemeClr val="tx1"/>
                        </a:solidFill>
                        <a:latin typeface="Cambria" panose="02040503050406030204" pitchFamily="18" charset="0"/>
                        <a:ea typeface="Cambria" panose="02040503050406030204" pitchFamily="18"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t>Methodology / Workflow Chart </a:t>
                      </a:r>
                      <a:r>
                        <a:rPr lang="en-US" sz="2000" b="0" dirty="0">
                          <a:solidFill>
                            <a:srgbClr val="FF0000"/>
                          </a:solidFill>
                        </a:rPr>
                        <a:t>(slide no. 15)</a:t>
                      </a:r>
                      <a:endParaRPr lang="en-US" sz="2000" b="1" i="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248244404"/>
                  </a:ext>
                </a:extLst>
              </a:tr>
            </a:tbl>
          </a:graphicData>
        </a:graphic>
      </p:graphicFrame>
      <p:sp>
        <p:nvSpPr>
          <p:cNvPr id="4" name="Slide Number Placeholder 3"/>
          <p:cNvSpPr>
            <a:spLocks noGrp="1"/>
          </p:cNvSpPr>
          <p:nvPr>
            <p:ph type="sldNum" sz="quarter" idx="12"/>
          </p:nvPr>
        </p:nvSpPr>
        <p:spPr/>
        <p:txBody>
          <a:bodyPr/>
          <a:lstStyle/>
          <a:p>
            <a:fld id="{2A90EE39-82A8-4ECD-9F2F-122B8BC51252}" type="slidenum">
              <a:rPr lang="en-US" b="1" smtClean="0">
                <a:solidFill>
                  <a:srgbClr val="7030A0"/>
                </a:solidFill>
                <a:latin typeface="Cambria" panose="02040503050406030204" pitchFamily="18" charset="0"/>
                <a:ea typeface="Cambria" panose="02040503050406030204" pitchFamily="18" charset="0"/>
              </a:rPr>
              <a:t>2</a:t>
            </a:fld>
            <a:endParaRPr lang="en-US" b="1" dirty="0">
              <a:solidFill>
                <a:srgbClr val="7030A0"/>
              </a:solidFill>
              <a:latin typeface="Cambria" panose="02040503050406030204" pitchFamily="18" charset="0"/>
              <a:ea typeface="Cambria" panose="02040503050406030204" pitchFamily="18" charset="0"/>
            </a:endParaRPr>
          </a:p>
        </p:txBody>
      </p:sp>
      <p:sp>
        <p:nvSpPr>
          <p:cNvPr id="2" name="Title 1"/>
          <p:cNvSpPr>
            <a:spLocks noGrp="1"/>
          </p:cNvSpPr>
          <p:nvPr>
            <p:ph type="title"/>
          </p:nvPr>
        </p:nvSpPr>
        <p:spPr>
          <a:xfrm>
            <a:off x="0" y="0"/>
            <a:ext cx="12192000" cy="583323"/>
          </a:xfrm>
          <a:solidFill>
            <a:schemeClr val="accent4">
              <a:lumMod val="60000"/>
              <a:lumOff val="40000"/>
            </a:schemeClr>
          </a:solidFill>
          <a:effectLst/>
        </p:spPr>
        <p:txBody>
          <a:bodyPr>
            <a:normAutofit/>
          </a:bodyPr>
          <a:lstStyle/>
          <a:p>
            <a:r>
              <a:rPr lang="en-US" sz="2800" b="1" dirty="0">
                <a:latin typeface="Cambria" panose="02040503050406030204" pitchFamily="18" charset="0"/>
                <a:ea typeface="Cambria" panose="02040503050406030204" pitchFamily="18" charset="0"/>
              </a:rPr>
              <a:t>PRESENTATION OUTLINE </a:t>
            </a:r>
          </a:p>
        </p:txBody>
      </p:sp>
      <p:graphicFrame>
        <p:nvGraphicFramePr>
          <p:cNvPr id="3" name="Table 2">
            <a:extLst>
              <a:ext uri="{FF2B5EF4-FFF2-40B4-BE49-F238E27FC236}">
                <a16:creationId xmlns:a16="http://schemas.microsoft.com/office/drawing/2014/main" id="{CC420A8E-4298-73C5-18A9-4390486D81CF}"/>
              </a:ext>
            </a:extLst>
          </p:cNvPr>
          <p:cNvGraphicFramePr>
            <a:graphicFrameLocks noGrp="1"/>
          </p:cNvGraphicFramePr>
          <p:nvPr>
            <p:extLst>
              <p:ext uri="{D42A27DB-BD31-4B8C-83A1-F6EECF244321}">
                <p14:modId xmlns:p14="http://schemas.microsoft.com/office/powerpoint/2010/main" val="2825406455"/>
              </p:ext>
            </p:extLst>
          </p:nvPr>
        </p:nvGraphicFramePr>
        <p:xfrm>
          <a:off x="6095999" y="583325"/>
          <a:ext cx="5985753" cy="5813505"/>
        </p:xfrm>
        <a:graphic>
          <a:graphicData uri="http://schemas.openxmlformats.org/drawingml/2006/table">
            <a:tbl>
              <a:tblPr firstRow="1" bandRow="1">
                <a:tableStyleId>{616DA210-FB5B-4158-B5E0-FEB733F419BA}</a:tableStyleId>
              </a:tblPr>
              <a:tblGrid>
                <a:gridCol w="1254461">
                  <a:extLst>
                    <a:ext uri="{9D8B030D-6E8A-4147-A177-3AD203B41FA5}">
                      <a16:colId xmlns:a16="http://schemas.microsoft.com/office/drawing/2014/main" val="20000"/>
                    </a:ext>
                  </a:extLst>
                </a:gridCol>
                <a:gridCol w="4731292">
                  <a:extLst>
                    <a:ext uri="{9D8B030D-6E8A-4147-A177-3AD203B41FA5}">
                      <a16:colId xmlns:a16="http://schemas.microsoft.com/office/drawing/2014/main" val="20002"/>
                    </a:ext>
                  </a:extLst>
                </a:gridCol>
              </a:tblGrid>
              <a:tr h="50627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13.</a:t>
                      </a:r>
                      <a:endParaRPr lang="en-US" sz="2000" b="1" i="0" dirty="0">
                        <a:solidFill>
                          <a:schemeClr val="tx1"/>
                        </a:solidFill>
                        <a:latin typeface="Cambria" panose="02040503050406030204" pitchFamily="18" charset="0"/>
                        <a:ea typeface="Cambria" panose="02040503050406030204" pitchFamily="18"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t>Modelling </a:t>
                      </a:r>
                      <a:r>
                        <a:rPr lang="en-US" sz="2000" b="1" dirty="0">
                          <a:solidFill>
                            <a:srgbClr val="FF0000"/>
                          </a:solidFill>
                        </a:rPr>
                        <a:t>(slide no..)</a:t>
                      </a:r>
                      <a:endParaRPr lang="en-US" sz="2000" b="1" i="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010"/>
                  </a:ext>
                </a:extLst>
              </a:tr>
              <a:tr h="52257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14.</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t>Design</a:t>
                      </a:r>
                      <a:r>
                        <a:rPr lang="en-US" sz="2000" b="1" dirty="0">
                          <a:solidFill>
                            <a:schemeClr val="tx1"/>
                          </a:solidFill>
                        </a:rPr>
                        <a:t> </a:t>
                      </a:r>
                      <a:r>
                        <a:rPr lang="en-US" sz="2000" b="0" dirty="0">
                          <a:solidFill>
                            <a:srgbClr val="FF0000"/>
                          </a:solidFill>
                        </a:rPr>
                        <a:t>(slide no. 15)</a:t>
                      </a:r>
                      <a:endParaRPr lang="en-US" sz="2000" b="1" i="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011"/>
                  </a:ext>
                </a:extLst>
              </a:tr>
              <a:tr h="4645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15.</a:t>
                      </a:r>
                    </a:p>
                  </a:txBody>
                  <a:tcPr anchor="ctr"/>
                </a:tc>
                <a:tc>
                  <a:txBody>
                    <a:bodyPr/>
                    <a:lstStyle/>
                    <a:p>
                      <a:r>
                        <a:rPr lang="en-IN" sz="1800" dirty="0"/>
                        <a:t>Materials &amp; Process Selection </a:t>
                      </a:r>
                      <a:r>
                        <a:rPr lang="en-US" sz="1800" b="1" dirty="0">
                          <a:solidFill>
                            <a:srgbClr val="FF0000"/>
                          </a:solidFill>
                        </a:rPr>
                        <a:t>(slide no..)</a:t>
                      </a:r>
                      <a:endParaRPr lang="en-IN" dirty="0"/>
                    </a:p>
                  </a:txBody>
                  <a:tcPr/>
                </a:tc>
                <a:extLst>
                  <a:ext uri="{0D108BD9-81ED-4DB2-BD59-A6C34878D82A}">
                    <a16:rowId xmlns:a16="http://schemas.microsoft.com/office/drawing/2014/main" val="10012"/>
                  </a:ext>
                </a:extLst>
              </a:tr>
              <a:tr h="48167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16.</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t>Bill of Materials </a:t>
                      </a:r>
                      <a:r>
                        <a:rPr lang="en-US" sz="2000" b="1" dirty="0">
                          <a:solidFill>
                            <a:srgbClr val="FF0000"/>
                          </a:solidFill>
                        </a:rPr>
                        <a:t>(slide no..)</a:t>
                      </a:r>
                      <a:endParaRPr lang="en-US" sz="2000" b="1" i="0"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013"/>
                  </a:ext>
                </a:extLst>
              </a:tr>
              <a:tr h="47980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17.</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t>Fabrication / Implementation</a:t>
                      </a:r>
                      <a:r>
                        <a:rPr lang="en-US" sz="2000" b="1" baseline="0" dirty="0">
                          <a:solidFill>
                            <a:schemeClr val="tx1"/>
                          </a:solidFill>
                        </a:rPr>
                        <a:t> </a:t>
                      </a:r>
                      <a:r>
                        <a:rPr lang="en-US" sz="2000" b="0" dirty="0">
                          <a:solidFill>
                            <a:srgbClr val="FF0000"/>
                          </a:solidFill>
                        </a:rPr>
                        <a:t>(slide no..)</a:t>
                      </a:r>
                      <a:endParaRPr lang="en-US" sz="2000" b="1" i="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014"/>
                  </a:ext>
                </a:extLst>
              </a:tr>
              <a:tr h="47980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18.</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TEST: </a:t>
                      </a:r>
                      <a:r>
                        <a:rPr lang="en-US" sz="2000" b="1" dirty="0">
                          <a:solidFill>
                            <a:srgbClr val="FF0000"/>
                          </a:solidFill>
                        </a:rPr>
                        <a:t>(slide no..)</a:t>
                      </a:r>
                      <a:endParaRPr lang="en-US" sz="2000" b="1" kern="1200" dirty="0">
                        <a:solidFill>
                          <a:schemeClr val="tx1"/>
                        </a:solidFill>
                        <a:latin typeface="+mn-lt"/>
                        <a:ea typeface="+mn-ea"/>
                        <a:cs typeface="+mn-cs"/>
                      </a:endParaRPr>
                    </a:p>
                  </a:txBody>
                  <a:tcPr/>
                </a:tc>
                <a:extLst>
                  <a:ext uri="{0D108BD9-81ED-4DB2-BD59-A6C34878D82A}">
                    <a16:rowId xmlns:a16="http://schemas.microsoft.com/office/drawing/2014/main" val="3767007662"/>
                  </a:ext>
                </a:extLst>
              </a:tr>
              <a:tr h="47980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19.</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t>Testing &amp; Validation </a:t>
                      </a:r>
                      <a:r>
                        <a:rPr lang="en-US" sz="2000" b="1" dirty="0">
                          <a:solidFill>
                            <a:srgbClr val="FF0000"/>
                          </a:solidFill>
                        </a:rPr>
                        <a:t>(slide no..)</a:t>
                      </a:r>
                      <a:endParaRPr lang="en-US" sz="2000" b="1" i="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713165468"/>
                  </a:ext>
                </a:extLst>
              </a:tr>
              <a:tr h="47980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20.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RESULTS &amp; CONCLUSION: </a:t>
                      </a:r>
                      <a:r>
                        <a:rPr lang="en-US" sz="2000" b="1" dirty="0">
                          <a:solidFill>
                            <a:srgbClr val="FF0000"/>
                          </a:solidFill>
                        </a:rPr>
                        <a:t>(slide no..)</a:t>
                      </a:r>
                      <a:endParaRPr lang="en-US" sz="2000" b="1" kern="1200" dirty="0">
                        <a:solidFill>
                          <a:schemeClr val="tx1"/>
                        </a:solidFill>
                        <a:latin typeface="+mn-lt"/>
                        <a:ea typeface="+mn-ea"/>
                        <a:cs typeface="+mn-cs"/>
                      </a:endParaRPr>
                    </a:p>
                  </a:txBody>
                  <a:tcPr/>
                </a:tc>
                <a:extLst>
                  <a:ext uri="{0D108BD9-81ED-4DB2-BD59-A6C34878D82A}">
                    <a16:rowId xmlns:a16="http://schemas.microsoft.com/office/drawing/2014/main" val="605188669"/>
                  </a:ext>
                </a:extLst>
              </a:tr>
              <a:tr h="47980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21</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t>Project Outcomes Expected </a:t>
                      </a:r>
                      <a:r>
                        <a:rPr lang="en-US" sz="2000" b="1" dirty="0">
                          <a:solidFill>
                            <a:srgbClr val="FF0000"/>
                          </a:solidFill>
                        </a:rPr>
                        <a:t>(slide no..)</a:t>
                      </a:r>
                      <a:endParaRPr lang="en-US" sz="2000" b="1" i="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599193924"/>
                  </a:ext>
                </a:extLst>
              </a:tr>
              <a:tr h="47980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22.</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t>Project Expenditure Statement </a:t>
                      </a:r>
                      <a:r>
                        <a:rPr lang="en-US" sz="2000" b="1" dirty="0">
                          <a:solidFill>
                            <a:srgbClr val="FF0000"/>
                          </a:solidFill>
                        </a:rPr>
                        <a:t>(slide no..)</a:t>
                      </a:r>
                      <a:endParaRPr lang="en-US" sz="2000" b="1" i="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434268232"/>
                  </a:ext>
                </a:extLst>
              </a:tr>
              <a:tr h="47980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23.</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t>Project Time Utilization </a:t>
                      </a:r>
                      <a:r>
                        <a:rPr lang="en-US" sz="2000" b="1" dirty="0">
                          <a:solidFill>
                            <a:srgbClr val="FF0000"/>
                          </a:solidFill>
                        </a:rPr>
                        <a:t>(slide no..)</a:t>
                      </a:r>
                      <a:endParaRPr lang="en-US" sz="2000" b="1" i="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50596715"/>
                  </a:ext>
                </a:extLst>
              </a:tr>
              <a:tr h="47980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mn-lt"/>
                          <a:ea typeface="+mn-ea"/>
                          <a:cs typeface="+mn-cs"/>
                        </a:rPr>
                        <a:t>24.</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t>Acknowledgement </a:t>
                      </a:r>
                      <a:r>
                        <a:rPr lang="en-US" sz="2000" b="1" dirty="0">
                          <a:solidFill>
                            <a:srgbClr val="FF0000"/>
                          </a:solidFill>
                        </a:rPr>
                        <a:t>(slide no..)</a:t>
                      </a:r>
                      <a:endParaRPr lang="en-US" sz="2000" b="1" i="1" dirty="0">
                        <a:solidFill>
                          <a:schemeClr val="tx1"/>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11451440"/>
                  </a:ext>
                </a:extLst>
              </a:tr>
            </a:tbl>
          </a:graphicData>
        </a:graphic>
      </p:graphicFrame>
      <p:sp>
        <p:nvSpPr>
          <p:cNvPr id="6" name="Date Placeholder 5">
            <a:extLst>
              <a:ext uri="{FF2B5EF4-FFF2-40B4-BE49-F238E27FC236}">
                <a16:creationId xmlns:a16="http://schemas.microsoft.com/office/drawing/2014/main" id="{CFBFF33C-1E9E-D848-C12C-560DF3C92BB4}"/>
              </a:ext>
            </a:extLst>
          </p:cNvPr>
          <p:cNvSpPr>
            <a:spLocks noGrp="1"/>
          </p:cNvSpPr>
          <p:nvPr>
            <p:ph type="dt" sz="half" idx="10"/>
          </p:nvPr>
        </p:nvSpPr>
        <p:spPr/>
        <p:txBody>
          <a:bodyPr/>
          <a:lstStyle/>
          <a:p>
            <a:r>
              <a:rPr lang="en-US" b="1" dirty="0">
                <a:solidFill>
                  <a:srgbClr val="7030A0"/>
                </a:solidFill>
                <a:latin typeface="Cambria" panose="02040503050406030204" pitchFamily="18" charset="0"/>
                <a:ea typeface="Cambria" panose="02040503050406030204" pitchFamily="18" charset="0"/>
              </a:rPr>
              <a:t> 1/27/2026</a:t>
            </a:r>
          </a:p>
        </p:txBody>
      </p:sp>
    </p:spTree>
    <p:extLst>
      <p:ext uri="{BB962C8B-B14F-4D97-AF65-F5344CB8AC3E}">
        <p14:creationId xmlns:p14="http://schemas.microsoft.com/office/powerpoint/2010/main" val="4188692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0EC511-48AC-40D0-3CAF-7931A93182DA}"/>
              </a:ext>
            </a:extLst>
          </p:cNvPr>
          <p:cNvSpPr>
            <a:spLocks noGrp="1"/>
          </p:cNvSpPr>
          <p:nvPr>
            <p:ph type="sldNum" sz="quarter" idx="12"/>
          </p:nvPr>
        </p:nvSpPr>
        <p:spPr/>
        <p:txBody>
          <a:bodyPr/>
          <a:lstStyle/>
          <a:p>
            <a:fld id="{2A90EE39-82A8-4ECD-9F2F-122B8BC51252}" type="slidenum">
              <a:rPr lang="en-US" smtClean="0"/>
              <a:t>3</a:t>
            </a:fld>
            <a:endParaRPr lang="en-US" dirty="0"/>
          </a:p>
        </p:txBody>
      </p:sp>
      <p:pic>
        <p:nvPicPr>
          <p:cNvPr id="1026" name="Picture 2" descr="Stanford d.school Design Thinking Process">
            <a:extLst>
              <a:ext uri="{FF2B5EF4-FFF2-40B4-BE49-F238E27FC236}">
                <a16:creationId xmlns:a16="http://schemas.microsoft.com/office/drawing/2014/main" id="{DF1E5B4F-771D-698C-FB8B-D0F4F0CBC3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254" y="424893"/>
            <a:ext cx="10593827" cy="6008214"/>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1C29A5CA-E7CD-7EEE-3E0C-E9BC80A97787}"/>
              </a:ext>
            </a:extLst>
          </p:cNvPr>
          <p:cNvSpPr>
            <a:spLocks noGrp="1"/>
          </p:cNvSpPr>
          <p:nvPr>
            <p:ph type="title"/>
          </p:nvPr>
        </p:nvSpPr>
        <p:spPr>
          <a:xfrm>
            <a:off x="0" y="0"/>
            <a:ext cx="12192000" cy="583323"/>
          </a:xfrm>
          <a:solidFill>
            <a:schemeClr val="accent4">
              <a:lumMod val="60000"/>
              <a:lumOff val="40000"/>
            </a:schemeClr>
          </a:solidFill>
          <a:effectLst/>
        </p:spPr>
        <p:txBody>
          <a:bodyPr>
            <a:normAutofit/>
          </a:bodyPr>
          <a:lstStyle/>
          <a:p>
            <a:r>
              <a:rPr lang="en-US" sz="2800" b="1" dirty="0">
                <a:latin typeface="Cambria" panose="02040503050406030204" pitchFamily="18" charset="0"/>
                <a:ea typeface="Cambria" panose="02040503050406030204" pitchFamily="18" charset="0"/>
              </a:rPr>
              <a:t>DESIGN THINKING STEPS</a:t>
            </a:r>
          </a:p>
        </p:txBody>
      </p:sp>
      <p:sp>
        <p:nvSpPr>
          <p:cNvPr id="6" name="Date Placeholder 5">
            <a:extLst>
              <a:ext uri="{FF2B5EF4-FFF2-40B4-BE49-F238E27FC236}">
                <a16:creationId xmlns:a16="http://schemas.microsoft.com/office/drawing/2014/main" id="{F1339466-E431-5BA7-5240-85B70B6EA6AF}"/>
              </a:ext>
            </a:extLst>
          </p:cNvPr>
          <p:cNvSpPr>
            <a:spLocks noGrp="1"/>
          </p:cNvSpPr>
          <p:nvPr>
            <p:ph type="dt" sz="half" idx="10"/>
          </p:nvPr>
        </p:nvSpPr>
        <p:spPr/>
        <p:txBody>
          <a:bodyPr/>
          <a:lstStyle/>
          <a:p>
            <a:fld id="{CB5494F5-42C6-4146-BB67-9ECA7DF1D425}" type="datetime1">
              <a:rPr lang="en-US" smtClean="0"/>
              <a:t>1/27/2026</a:t>
            </a:fld>
            <a:endParaRPr lang="en-US" dirty="0"/>
          </a:p>
        </p:txBody>
      </p:sp>
    </p:spTree>
    <p:extLst>
      <p:ext uri="{BB962C8B-B14F-4D97-AF65-F5344CB8AC3E}">
        <p14:creationId xmlns:p14="http://schemas.microsoft.com/office/powerpoint/2010/main" val="1197378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90EE39-82A8-4ECD-9F2F-122B8BC51252}" type="slidenum">
              <a:rPr lang="en-US" smtClean="0"/>
              <a:t>4</a:t>
            </a:fld>
            <a:endParaRPr lang="en-US" dirty="0"/>
          </a:p>
        </p:txBody>
      </p:sp>
      <p:sp>
        <p:nvSpPr>
          <p:cNvPr id="5" name="Title 1"/>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Cambria" panose="02040503050406030204" pitchFamily="18" charset="0"/>
                <a:ea typeface="Cambria" panose="02040503050406030204" pitchFamily="18" charset="0"/>
              </a:rPr>
              <a:t>Problem Definition </a:t>
            </a:r>
          </a:p>
        </p:txBody>
      </p:sp>
      <p:sp>
        <p:nvSpPr>
          <p:cNvPr id="2" name="TextBox 1">
            <a:extLst>
              <a:ext uri="{FF2B5EF4-FFF2-40B4-BE49-F238E27FC236}">
                <a16:creationId xmlns:a16="http://schemas.microsoft.com/office/drawing/2014/main" id="{66F4B1C4-F953-86E4-D92C-317BF04BB455}"/>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BATCH 57 / IOT-Enabled Smart Gas Detection and Autonomous Shut-off System</a:t>
            </a:r>
            <a:endParaRPr lang="en-IN" sz="1600" i="1" dirty="0">
              <a:solidFill>
                <a:schemeClr val="tx1"/>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09451D77-2C5B-7333-AAAB-48B713C089AE}"/>
              </a:ext>
            </a:extLst>
          </p:cNvPr>
          <p:cNvSpPr txBox="1"/>
          <p:nvPr/>
        </p:nvSpPr>
        <p:spPr>
          <a:xfrm>
            <a:off x="1235964" y="779172"/>
            <a:ext cx="97200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IOT-Enabled Smart Gas Detection and Autonomous Shut-off System</a:t>
            </a:r>
          </a:p>
        </p:txBody>
      </p:sp>
      <p:sp>
        <p:nvSpPr>
          <p:cNvPr id="12" name="Rectangle 4">
            <a:extLst>
              <a:ext uri="{FF2B5EF4-FFF2-40B4-BE49-F238E27FC236}">
                <a16:creationId xmlns:a16="http://schemas.microsoft.com/office/drawing/2014/main" id="{AF051481-472D-924A-ADC3-8C242EFEF987}"/>
              </a:ext>
            </a:extLst>
          </p:cNvPr>
          <p:cNvSpPr>
            <a:spLocks noChangeArrowheads="1"/>
          </p:cNvSpPr>
          <p:nvPr/>
        </p:nvSpPr>
        <p:spPr bwMode="auto">
          <a:xfrm>
            <a:off x="923544" y="1436685"/>
            <a:ext cx="93726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LPG gas leakage is a common safety issue in Indian households and commercial kitchens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Gas leaks are often detected late as users rely mainly on smell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Panic situations lead to delayed manual gas shut-off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gas detectors mostly provide only alarms without automatic control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Elderly people, children, and absent users are highly vulnerable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Gas leakage accidents can cause fire, explosion, suffocation, and property damage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lack of affordable, automatic, and reliable gas safety systems</a:t>
            </a:r>
          </a:p>
        </p:txBody>
      </p:sp>
      <p:pic>
        <p:nvPicPr>
          <p:cNvPr id="13" name="Picture 12">
            <a:extLst>
              <a:ext uri="{FF2B5EF4-FFF2-40B4-BE49-F238E27FC236}">
                <a16:creationId xmlns:a16="http://schemas.microsoft.com/office/drawing/2014/main" id="{CFBF6CF0-CBE0-33B8-82E1-ADE19E6405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3708890" y="3785616"/>
            <a:ext cx="4774220" cy="2570734"/>
          </a:xfrm>
          <a:prstGeom prst="rect">
            <a:avLst/>
          </a:prstGeom>
        </p:spPr>
      </p:pic>
    </p:spTree>
    <p:extLst>
      <p:ext uri="{BB962C8B-B14F-4D97-AF65-F5344CB8AC3E}">
        <p14:creationId xmlns:p14="http://schemas.microsoft.com/office/powerpoint/2010/main" val="3827133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90EE39-82A8-4ECD-9F2F-122B8BC51252}" type="slidenum">
              <a:rPr lang="en-US" smtClean="0"/>
              <a:t>5</a:t>
            </a:fld>
            <a:endParaRPr lang="en-US" dirty="0"/>
          </a:p>
        </p:txBody>
      </p:sp>
      <p:sp>
        <p:nvSpPr>
          <p:cNvPr id="5" name="Title 1"/>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latin typeface="Cambria" panose="02040503050406030204" pitchFamily="18" charset="0"/>
                <a:ea typeface="Cambria" panose="02040503050406030204" pitchFamily="18" charset="0"/>
              </a:rPr>
              <a:t>1. EMPATHIZE</a:t>
            </a:r>
            <a:endParaRPr lang="en-US" sz="2800" b="1"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64F21937-6E76-EC27-DCE0-D539821210AF}"/>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IOT-Enabled Smart Gas Detection and Autonomous Shut-off System</a:t>
            </a:r>
            <a:endParaRPr lang="en-IN" sz="1600" i="1" dirty="0">
              <a:solidFill>
                <a:schemeClr val="tx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D75BF0C3-4B3B-00CF-A725-B354842CEA6E}"/>
              </a:ext>
            </a:extLst>
          </p:cNvPr>
          <p:cNvSpPr txBox="1"/>
          <p:nvPr/>
        </p:nvSpPr>
        <p:spPr>
          <a:xfrm>
            <a:off x="224589" y="583324"/>
            <a:ext cx="11454063" cy="138499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Project Title:</a:t>
            </a:r>
            <a:r>
              <a:rPr lang="en-US" sz="2400" dirty="0">
                <a:latin typeface="Times New Roman" panose="02020603050405020304" pitchFamily="18" charset="0"/>
                <a:cs typeface="Times New Roman" panose="02020603050405020304" pitchFamily="18" charset="0"/>
              </a:rPr>
              <a:t> IOT-Enabled Smart Gas Detection and Autonomous Shut-off System</a:t>
            </a:r>
          </a:p>
          <a:p>
            <a:r>
              <a:rPr lang="en-US" sz="2000" dirty="0">
                <a:latin typeface="Times New Roman" panose="02020603050405020304" pitchFamily="18" charset="0"/>
                <a:cs typeface="Times New Roman" panose="02020603050405020304" pitchFamily="18" charset="0"/>
              </a:rPr>
              <a:t>Empathy is the ability to understand and share the feelings of another person.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 this project, empathy helps us understand the </a:t>
            </a:r>
            <a:r>
              <a:rPr lang="en-US" sz="2000" b="1" dirty="0">
                <a:latin typeface="Times New Roman" panose="02020603050405020304" pitchFamily="18" charset="0"/>
                <a:cs typeface="Times New Roman" panose="02020603050405020304" pitchFamily="18" charset="0"/>
              </a:rPr>
              <a:t>fear, anxiety, and safety concerns</a:t>
            </a:r>
            <a:r>
              <a:rPr lang="en-US" sz="2000" dirty="0">
                <a:latin typeface="Times New Roman" panose="02020603050405020304" pitchFamily="18" charset="0"/>
                <a:cs typeface="Times New Roman" panose="02020603050405020304" pitchFamily="18" charset="0"/>
              </a:rPr>
              <a:t> faced by users during gas leakage incidents in homes and workplaces.</a:t>
            </a:r>
          </a:p>
        </p:txBody>
      </p:sp>
      <p:graphicFrame>
        <p:nvGraphicFramePr>
          <p:cNvPr id="7" name="Table 6">
            <a:extLst>
              <a:ext uri="{FF2B5EF4-FFF2-40B4-BE49-F238E27FC236}">
                <a16:creationId xmlns:a16="http://schemas.microsoft.com/office/drawing/2014/main" id="{7663372E-A1BB-31F1-F507-B2DD35CE47E8}"/>
              </a:ext>
            </a:extLst>
          </p:cNvPr>
          <p:cNvGraphicFramePr>
            <a:graphicFrameLocks noGrp="1"/>
          </p:cNvGraphicFramePr>
          <p:nvPr>
            <p:extLst>
              <p:ext uri="{D42A27DB-BD31-4B8C-83A1-F6EECF244321}">
                <p14:modId xmlns:p14="http://schemas.microsoft.com/office/powerpoint/2010/main" val="3166365437"/>
              </p:ext>
            </p:extLst>
          </p:nvPr>
        </p:nvGraphicFramePr>
        <p:xfrm>
          <a:off x="224589" y="1994608"/>
          <a:ext cx="11616890" cy="4263818"/>
        </p:xfrm>
        <a:graphic>
          <a:graphicData uri="http://schemas.openxmlformats.org/drawingml/2006/table">
            <a:tbl>
              <a:tblPr firstRow="1" bandRow="1">
                <a:tableStyleId>{5C22544A-7EE6-4342-B048-85BDC9FD1C3A}</a:tableStyleId>
              </a:tblPr>
              <a:tblGrid>
                <a:gridCol w="2323378">
                  <a:extLst>
                    <a:ext uri="{9D8B030D-6E8A-4147-A177-3AD203B41FA5}">
                      <a16:colId xmlns:a16="http://schemas.microsoft.com/office/drawing/2014/main" val="4242857558"/>
                    </a:ext>
                  </a:extLst>
                </a:gridCol>
                <a:gridCol w="2323378">
                  <a:extLst>
                    <a:ext uri="{9D8B030D-6E8A-4147-A177-3AD203B41FA5}">
                      <a16:colId xmlns:a16="http://schemas.microsoft.com/office/drawing/2014/main" val="124388363"/>
                    </a:ext>
                  </a:extLst>
                </a:gridCol>
                <a:gridCol w="2323378">
                  <a:extLst>
                    <a:ext uri="{9D8B030D-6E8A-4147-A177-3AD203B41FA5}">
                      <a16:colId xmlns:a16="http://schemas.microsoft.com/office/drawing/2014/main" val="3695066527"/>
                    </a:ext>
                  </a:extLst>
                </a:gridCol>
                <a:gridCol w="2323378">
                  <a:extLst>
                    <a:ext uri="{9D8B030D-6E8A-4147-A177-3AD203B41FA5}">
                      <a16:colId xmlns:a16="http://schemas.microsoft.com/office/drawing/2014/main" val="2548937543"/>
                    </a:ext>
                  </a:extLst>
                </a:gridCol>
                <a:gridCol w="2323378">
                  <a:extLst>
                    <a:ext uri="{9D8B030D-6E8A-4147-A177-3AD203B41FA5}">
                      <a16:colId xmlns:a16="http://schemas.microsoft.com/office/drawing/2014/main" val="2109265809"/>
                    </a:ext>
                  </a:extLst>
                </a:gridCol>
              </a:tblGrid>
              <a:tr h="697658">
                <a:tc>
                  <a:txBody>
                    <a:bodyPr/>
                    <a:lstStyle/>
                    <a:p>
                      <a:pPr>
                        <a:buNone/>
                      </a:pPr>
                      <a:r>
                        <a:rPr lang="en-IN" b="1" dirty="0"/>
                        <a:t>Persona</a:t>
                      </a:r>
                      <a:endParaRPr lang="en-IN" dirty="0"/>
                    </a:p>
                  </a:txBody>
                  <a:tcPr anchor="ctr"/>
                </a:tc>
                <a:tc>
                  <a:txBody>
                    <a:bodyPr/>
                    <a:lstStyle/>
                    <a:p>
                      <a:pPr>
                        <a:buNone/>
                      </a:pPr>
                      <a:r>
                        <a:rPr lang="en-IN" b="1"/>
                        <a:t>Demographics</a:t>
                      </a:r>
                      <a:endParaRPr lang="en-IN"/>
                    </a:p>
                  </a:txBody>
                  <a:tcPr anchor="ctr"/>
                </a:tc>
                <a:tc>
                  <a:txBody>
                    <a:bodyPr/>
                    <a:lstStyle/>
                    <a:p>
                      <a:pPr>
                        <a:buNone/>
                      </a:pPr>
                      <a:r>
                        <a:rPr lang="en-IN" b="1"/>
                        <a:t>Goals</a:t>
                      </a:r>
                      <a:endParaRPr lang="en-IN"/>
                    </a:p>
                  </a:txBody>
                  <a:tcPr anchor="ctr"/>
                </a:tc>
                <a:tc>
                  <a:txBody>
                    <a:bodyPr/>
                    <a:lstStyle/>
                    <a:p>
                      <a:pPr>
                        <a:buNone/>
                      </a:pPr>
                      <a:r>
                        <a:rPr lang="en-IN" b="1"/>
                        <a:t>Frustrations</a:t>
                      </a:r>
                      <a:endParaRPr lang="en-IN"/>
                    </a:p>
                  </a:txBody>
                  <a:tcPr anchor="ctr"/>
                </a:tc>
                <a:tc>
                  <a:txBody>
                    <a:bodyPr/>
                    <a:lstStyle/>
                    <a:p>
                      <a:pPr>
                        <a:buNone/>
                      </a:pPr>
                      <a:r>
                        <a:rPr lang="en-IN" b="1"/>
                        <a:t>Behaviors</a:t>
                      </a:r>
                      <a:endParaRPr lang="en-IN"/>
                    </a:p>
                  </a:txBody>
                  <a:tcPr anchor="ctr"/>
                </a:tc>
                <a:extLst>
                  <a:ext uri="{0D108BD9-81ED-4DB2-BD59-A6C34878D82A}">
                    <a16:rowId xmlns:a16="http://schemas.microsoft.com/office/drawing/2014/main" val="1016144034"/>
                  </a:ext>
                </a:extLst>
              </a:tr>
              <a:tr h="1153075">
                <a:tc>
                  <a:txBody>
                    <a:bodyPr/>
                    <a:lstStyle/>
                    <a:p>
                      <a:pPr>
                        <a:buNone/>
                      </a:pPr>
                      <a:r>
                        <a:rPr lang="en-IN" b="1"/>
                        <a:t>Lakshmi, Homemaker</a:t>
                      </a:r>
                      <a:endParaRPr lang="en-IN"/>
                    </a:p>
                  </a:txBody>
                  <a:tcPr anchor="ctr"/>
                </a:tc>
                <a:tc>
                  <a:txBody>
                    <a:bodyPr/>
                    <a:lstStyle/>
                    <a:p>
                      <a:pPr>
                        <a:buNone/>
                      </a:pPr>
                      <a:r>
                        <a:rPr lang="en-US"/>
                        <a:t>45-year-old homemaker, lives in urban Chennai, uses LPG daily for cooking</a:t>
                      </a:r>
                    </a:p>
                  </a:txBody>
                  <a:tcPr anchor="ctr"/>
                </a:tc>
                <a:tc>
                  <a:txBody>
                    <a:bodyPr/>
                    <a:lstStyle/>
                    <a:p>
                      <a:pPr>
                        <a:buNone/>
                      </a:pPr>
                      <a:r>
                        <a:rPr lang="en-US"/>
                        <a:t>Safe cooking environment, protect family from accidents</a:t>
                      </a:r>
                    </a:p>
                  </a:txBody>
                  <a:tcPr anchor="ctr"/>
                </a:tc>
                <a:tc>
                  <a:txBody>
                    <a:bodyPr/>
                    <a:lstStyle/>
                    <a:p>
                      <a:pPr>
                        <a:buNone/>
                      </a:pPr>
                      <a:r>
                        <a:rPr lang="en-US"/>
                        <a:t>Fear of gas leaks at night, delayed detection, manual shut-off during panic</a:t>
                      </a:r>
                    </a:p>
                  </a:txBody>
                  <a:tcPr anchor="ctr"/>
                </a:tc>
                <a:tc>
                  <a:txBody>
                    <a:bodyPr/>
                    <a:lstStyle/>
                    <a:p>
                      <a:pPr>
                        <a:buNone/>
                      </a:pPr>
                      <a:r>
                        <a:rPr lang="en-US"/>
                        <a:t>Relies on smell to detect leaks, opens windows, turns off regulator manually</a:t>
                      </a:r>
                    </a:p>
                  </a:txBody>
                  <a:tcPr anchor="ctr"/>
                </a:tc>
                <a:extLst>
                  <a:ext uri="{0D108BD9-81ED-4DB2-BD59-A6C34878D82A}">
                    <a16:rowId xmlns:a16="http://schemas.microsoft.com/office/drawing/2014/main" val="3089596126"/>
                  </a:ext>
                </a:extLst>
              </a:tr>
              <a:tr h="1153075">
                <a:tc>
                  <a:txBody>
                    <a:bodyPr/>
                    <a:lstStyle/>
                    <a:p>
                      <a:pPr>
                        <a:buNone/>
                      </a:pPr>
                      <a:r>
                        <a:rPr lang="en-IN" b="1"/>
                        <a:t>Ramesh, Working Professional</a:t>
                      </a:r>
                      <a:endParaRPr lang="en-IN"/>
                    </a:p>
                  </a:txBody>
                  <a:tcPr anchor="ctr"/>
                </a:tc>
                <a:tc>
                  <a:txBody>
                    <a:bodyPr/>
                    <a:lstStyle/>
                    <a:p>
                      <a:pPr>
                        <a:buNone/>
                      </a:pPr>
                      <a:r>
                        <a:rPr lang="en-US"/>
                        <a:t>38-year-old office employee, lives with family, away from home during daytime</a:t>
                      </a:r>
                    </a:p>
                  </a:txBody>
                  <a:tcPr anchor="ctr"/>
                </a:tc>
                <a:tc>
                  <a:txBody>
                    <a:bodyPr/>
                    <a:lstStyle/>
                    <a:p>
                      <a:pPr>
                        <a:buNone/>
                      </a:pPr>
                      <a:r>
                        <a:rPr lang="en-US"/>
                        <a:t>Ensure family safety even when he is not at home</a:t>
                      </a:r>
                    </a:p>
                  </a:txBody>
                  <a:tcPr anchor="ctr"/>
                </a:tc>
                <a:tc>
                  <a:txBody>
                    <a:bodyPr/>
                    <a:lstStyle/>
                    <a:p>
                      <a:pPr>
                        <a:buNone/>
                      </a:pPr>
                      <a:r>
                        <a:rPr lang="en-US"/>
                        <a:t>Worry about gas leaks when house is unattended, no remote alerts</a:t>
                      </a:r>
                    </a:p>
                  </a:txBody>
                  <a:tcPr anchor="ctr"/>
                </a:tc>
                <a:tc>
                  <a:txBody>
                    <a:bodyPr/>
                    <a:lstStyle/>
                    <a:p>
                      <a:pPr>
                        <a:buNone/>
                      </a:pPr>
                      <a:r>
                        <a:rPr lang="en-US"/>
                        <a:t>Checks stove before leaving, depends on family members for safety</a:t>
                      </a:r>
                    </a:p>
                  </a:txBody>
                  <a:tcPr anchor="ctr"/>
                </a:tc>
                <a:extLst>
                  <a:ext uri="{0D108BD9-81ED-4DB2-BD59-A6C34878D82A}">
                    <a16:rowId xmlns:a16="http://schemas.microsoft.com/office/drawing/2014/main" val="2320071226"/>
                  </a:ext>
                </a:extLst>
              </a:tr>
              <a:tr h="1153075">
                <a:tc>
                  <a:txBody>
                    <a:bodyPr/>
                    <a:lstStyle/>
                    <a:p>
                      <a:pPr>
                        <a:buNone/>
                      </a:pPr>
                      <a:r>
                        <a:rPr lang="en-IN" b="1"/>
                        <a:t>Suresh, Restaurant Staff</a:t>
                      </a:r>
                      <a:endParaRPr lang="en-IN"/>
                    </a:p>
                  </a:txBody>
                  <a:tcPr anchor="ctr"/>
                </a:tc>
                <a:tc>
                  <a:txBody>
                    <a:bodyPr/>
                    <a:lstStyle/>
                    <a:p>
                      <a:pPr>
                        <a:buNone/>
                      </a:pPr>
                      <a:r>
                        <a:rPr lang="en-US" dirty="0"/>
                        <a:t>30-year-old cook in a small restaurant, handles multiple gas stoves daily</a:t>
                      </a:r>
                    </a:p>
                  </a:txBody>
                  <a:tcPr anchor="ctr"/>
                </a:tc>
                <a:tc>
                  <a:txBody>
                    <a:bodyPr/>
                    <a:lstStyle/>
                    <a:p>
                      <a:pPr>
                        <a:buNone/>
                      </a:pPr>
                      <a:r>
                        <a:rPr lang="en-US"/>
                        <a:t>Prevent fire accidents, uninterrupted cooking operations</a:t>
                      </a:r>
                    </a:p>
                  </a:txBody>
                  <a:tcPr anchor="ctr"/>
                </a:tc>
                <a:tc>
                  <a:txBody>
                    <a:bodyPr/>
                    <a:lstStyle/>
                    <a:p>
                      <a:pPr>
                        <a:buNone/>
                      </a:pPr>
                      <a:r>
                        <a:rPr lang="en-US"/>
                        <a:t>High pressure during peak hours, delayed response to leaks</a:t>
                      </a:r>
                    </a:p>
                  </a:txBody>
                  <a:tcPr anchor="ctr"/>
                </a:tc>
                <a:tc>
                  <a:txBody>
                    <a:bodyPr/>
                    <a:lstStyle/>
                    <a:p>
                      <a:pPr>
                        <a:buNone/>
                      </a:pPr>
                      <a:r>
                        <a:rPr lang="en-US" dirty="0"/>
                        <a:t>Focuses on cooking tasks, ignores minor smells, reacts only when alarms sound</a:t>
                      </a:r>
                    </a:p>
                  </a:txBody>
                  <a:tcPr anchor="ctr"/>
                </a:tc>
                <a:extLst>
                  <a:ext uri="{0D108BD9-81ED-4DB2-BD59-A6C34878D82A}">
                    <a16:rowId xmlns:a16="http://schemas.microsoft.com/office/drawing/2014/main" val="1305479778"/>
                  </a:ext>
                </a:extLst>
              </a:tr>
            </a:tbl>
          </a:graphicData>
        </a:graphic>
      </p:graphicFrame>
    </p:spTree>
    <p:extLst>
      <p:ext uri="{BB962C8B-B14F-4D97-AF65-F5344CB8AC3E}">
        <p14:creationId xmlns:p14="http://schemas.microsoft.com/office/powerpoint/2010/main" val="749996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5702E-528A-A6F1-C67A-4B0734480B5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B40D57-560C-122D-6B42-50DC45CCD896}"/>
              </a:ext>
            </a:extLst>
          </p:cNvPr>
          <p:cNvSpPr>
            <a:spLocks noGrp="1"/>
          </p:cNvSpPr>
          <p:nvPr>
            <p:ph type="sldNum" sz="quarter" idx="12"/>
          </p:nvPr>
        </p:nvSpPr>
        <p:spPr/>
        <p:txBody>
          <a:bodyPr/>
          <a:lstStyle/>
          <a:p>
            <a:fld id="{2A90EE39-82A8-4ECD-9F2F-122B8BC51252}" type="slidenum">
              <a:rPr lang="en-US" smtClean="0"/>
              <a:t>6</a:t>
            </a:fld>
            <a:endParaRPr lang="en-US" dirty="0"/>
          </a:p>
        </p:txBody>
      </p:sp>
      <p:sp>
        <p:nvSpPr>
          <p:cNvPr id="5" name="Title 1">
            <a:extLst>
              <a:ext uri="{FF2B5EF4-FFF2-40B4-BE49-F238E27FC236}">
                <a16:creationId xmlns:a16="http://schemas.microsoft.com/office/drawing/2014/main" id="{DF562A31-6E2E-AE85-E44D-19D0B8C4A92F}"/>
              </a:ext>
            </a:extLst>
          </p:cNvPr>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latin typeface="Cambria" panose="02040503050406030204" pitchFamily="18" charset="0"/>
                <a:ea typeface="Cambria" panose="02040503050406030204" pitchFamily="18" charset="0"/>
              </a:rPr>
              <a:t>1. EMPATHIZE - Problem Context &amp; Background </a:t>
            </a:r>
            <a:endParaRPr lang="en-US" sz="2800" b="1"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4F7A5F9E-0E02-60BE-60E0-10AE824D57A1}"/>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IOT-Enabled Smart Gas Detection and Autonomous Shut-off System</a:t>
            </a:r>
            <a:endParaRPr lang="en-IN" sz="1600" i="1" dirty="0">
              <a:solidFill>
                <a:schemeClr val="tx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934965DB-0B9C-20FE-6F2B-212D90B6E724}"/>
              </a:ext>
            </a:extLst>
          </p:cNvPr>
          <p:cNvSpPr txBox="1"/>
          <p:nvPr/>
        </p:nvSpPr>
        <p:spPr>
          <a:xfrm>
            <a:off x="219456" y="685800"/>
            <a:ext cx="8061960" cy="5202936"/>
          </a:xfrm>
          <a:prstGeom prst="rect">
            <a:avLst/>
          </a:prstGeom>
          <a:noFill/>
        </p:spPr>
        <p:txBody>
          <a:bodyPr wrap="square" rtlCol="0">
            <a:spAutoFit/>
          </a:bodyPr>
          <a:lstStyle/>
          <a:p>
            <a:endParaRPr lang="en-IN" dirty="0"/>
          </a:p>
        </p:txBody>
      </p:sp>
      <p:sp>
        <p:nvSpPr>
          <p:cNvPr id="8" name="Rectangle 2">
            <a:extLst>
              <a:ext uri="{FF2B5EF4-FFF2-40B4-BE49-F238E27FC236}">
                <a16:creationId xmlns:a16="http://schemas.microsoft.com/office/drawing/2014/main" id="{B1A90B7E-A51F-3A4D-4089-D10685E2BE9C}"/>
              </a:ext>
            </a:extLst>
          </p:cNvPr>
          <p:cNvSpPr>
            <a:spLocks noChangeArrowheads="1"/>
          </p:cNvSpPr>
          <p:nvPr/>
        </p:nvSpPr>
        <p:spPr bwMode="auto">
          <a:xfrm>
            <a:off x="0" y="785121"/>
            <a:ext cx="877824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LPG gas cylinders are widely used in Indian households, restaurants, and small commercial kitchens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Gas leakage can occur due to loose regulators, worn-out rubber hoses, improper installation, or human error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users depend only on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smell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detect gas leaks, which is unreliable during sleep or absence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Leakage incidents often create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panic</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leading to delayed or incorrect 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Elderly people, children, and kitchen workers are highly vulnerable during gas leakage situations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gas shut-off is difficult during emergencies or when users are not present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gas detectors mainly provide sound alarms without taking preventive 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automatic shut-off increases the risk of fire, explosion, suffocation, and property damage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desire a system that works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automatically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without requiring technical knowledge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Safety concerns cause constant anxiety and reduce user confidence during daily cooking activities</a:t>
            </a:r>
          </a:p>
        </p:txBody>
      </p:sp>
      <p:pic>
        <p:nvPicPr>
          <p:cNvPr id="7" name="Picture 6">
            <a:extLst>
              <a:ext uri="{FF2B5EF4-FFF2-40B4-BE49-F238E27FC236}">
                <a16:creationId xmlns:a16="http://schemas.microsoft.com/office/drawing/2014/main" id="{6FAE2C27-761B-0349-98EE-43A05971D12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44419" y="1413477"/>
            <a:ext cx="3747581" cy="3747581"/>
          </a:xfrm>
          <a:prstGeom prst="rect">
            <a:avLst/>
          </a:prstGeom>
        </p:spPr>
      </p:pic>
    </p:spTree>
    <p:extLst>
      <p:ext uri="{BB962C8B-B14F-4D97-AF65-F5344CB8AC3E}">
        <p14:creationId xmlns:p14="http://schemas.microsoft.com/office/powerpoint/2010/main" val="1348336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90EE39-82A8-4ECD-9F2F-122B8BC51252}" type="slidenum">
              <a:rPr lang="en-US" smtClean="0"/>
              <a:t>7</a:t>
            </a:fld>
            <a:endParaRPr lang="en-US" dirty="0"/>
          </a:p>
        </p:txBody>
      </p:sp>
      <p:sp>
        <p:nvSpPr>
          <p:cNvPr id="5" name="Title 1"/>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latin typeface="Cambria" panose="02040503050406030204" pitchFamily="18" charset="0"/>
                <a:ea typeface="Cambria" panose="02040503050406030204" pitchFamily="18" charset="0"/>
              </a:rPr>
              <a:t>1. EMPATHIZE - Literature Survey &amp; Field Study </a:t>
            </a:r>
            <a:endParaRPr lang="en-US" sz="2800" b="1" dirty="0">
              <a:latin typeface="Cambria" panose="02040503050406030204" pitchFamily="18" charset="0"/>
              <a:ea typeface="Cambria" panose="02040503050406030204" pitchFamily="18" charset="0"/>
            </a:endParaRPr>
          </a:p>
        </p:txBody>
      </p:sp>
      <p:graphicFrame>
        <p:nvGraphicFramePr>
          <p:cNvPr id="8" name="Table 7"/>
          <p:cNvGraphicFramePr>
            <a:graphicFrameLocks noGrp="1"/>
          </p:cNvGraphicFramePr>
          <p:nvPr>
            <p:extLst>
              <p:ext uri="{D42A27DB-BD31-4B8C-83A1-F6EECF244321}">
                <p14:modId xmlns:p14="http://schemas.microsoft.com/office/powerpoint/2010/main" val="2560239183"/>
              </p:ext>
            </p:extLst>
          </p:nvPr>
        </p:nvGraphicFramePr>
        <p:xfrm>
          <a:off x="-9144" y="513997"/>
          <a:ext cx="12201144" cy="6038201"/>
        </p:xfrm>
        <a:graphic>
          <a:graphicData uri="http://schemas.openxmlformats.org/drawingml/2006/table">
            <a:tbl>
              <a:tblPr firstRow="1" bandRow="1">
                <a:tableStyleId>{5C22544A-7EE6-4342-B048-85BDC9FD1C3A}</a:tableStyleId>
              </a:tblPr>
              <a:tblGrid>
                <a:gridCol w="1106204">
                  <a:extLst>
                    <a:ext uri="{9D8B030D-6E8A-4147-A177-3AD203B41FA5}">
                      <a16:colId xmlns:a16="http://schemas.microsoft.com/office/drawing/2014/main" val="20000"/>
                    </a:ext>
                  </a:extLst>
                </a:gridCol>
                <a:gridCol w="4474644">
                  <a:extLst>
                    <a:ext uri="{9D8B030D-6E8A-4147-A177-3AD203B41FA5}">
                      <a16:colId xmlns:a16="http://schemas.microsoft.com/office/drawing/2014/main" val="20001"/>
                    </a:ext>
                  </a:extLst>
                </a:gridCol>
                <a:gridCol w="3124047">
                  <a:extLst>
                    <a:ext uri="{9D8B030D-6E8A-4147-A177-3AD203B41FA5}">
                      <a16:colId xmlns:a16="http://schemas.microsoft.com/office/drawing/2014/main" val="20002"/>
                    </a:ext>
                  </a:extLst>
                </a:gridCol>
                <a:gridCol w="3496249">
                  <a:extLst>
                    <a:ext uri="{9D8B030D-6E8A-4147-A177-3AD203B41FA5}">
                      <a16:colId xmlns:a16="http://schemas.microsoft.com/office/drawing/2014/main" val="20003"/>
                    </a:ext>
                  </a:extLst>
                </a:gridCol>
              </a:tblGrid>
              <a:tr h="66695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ambria" panose="02040503050406030204" pitchFamily="18" charset="0"/>
                          <a:ea typeface="Cambria" panose="02040503050406030204" pitchFamily="18" charset="0"/>
                        </a:rPr>
                        <a:t>S.No. </a:t>
                      </a:r>
                    </a:p>
                    <a:p>
                      <a:pPr algn="ctr"/>
                      <a:endParaRPr lang="en-US" sz="2000" dirty="0">
                        <a:latin typeface="Cambria" panose="02040503050406030204" pitchFamily="18" charset="0"/>
                        <a:ea typeface="Cambria" panose="020405030504060302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ambria" panose="02040503050406030204" pitchFamily="18" charset="0"/>
                          <a:ea typeface="Cambria" panose="02040503050406030204" pitchFamily="18" charset="0"/>
                        </a:rPr>
                        <a:t>Title</a:t>
                      </a:r>
                      <a:r>
                        <a:rPr lang="en-US" sz="2000" baseline="0" dirty="0">
                          <a:latin typeface="Cambria" panose="02040503050406030204" pitchFamily="18" charset="0"/>
                          <a:ea typeface="Cambria" panose="02040503050406030204" pitchFamily="18" charset="0"/>
                        </a:rPr>
                        <a:t> of the paper </a:t>
                      </a:r>
                      <a:endParaRPr lang="en-US" sz="2000" dirty="0">
                        <a:latin typeface="Cambria" panose="02040503050406030204" pitchFamily="18" charset="0"/>
                        <a:ea typeface="Cambria" panose="02040503050406030204" pitchFamily="18" charset="0"/>
                      </a:endParaRPr>
                    </a:p>
                    <a:p>
                      <a:pPr algn="ctr"/>
                      <a:endParaRPr lang="en-US" sz="2000" dirty="0">
                        <a:latin typeface="Cambria" panose="02040503050406030204" pitchFamily="18" charset="0"/>
                        <a:ea typeface="Cambria" panose="02040503050406030204" pitchFamily="18" charset="0"/>
                      </a:endParaRPr>
                    </a:p>
                  </a:txBody>
                  <a:tcPr/>
                </a:tc>
                <a:tc>
                  <a:txBody>
                    <a:bodyPr/>
                    <a:lstStyle/>
                    <a:p>
                      <a:pPr algn="ctr"/>
                      <a:r>
                        <a:rPr lang="en-US" sz="2000" dirty="0">
                          <a:latin typeface="Cambria" panose="02040503050406030204" pitchFamily="18" charset="0"/>
                          <a:ea typeface="Cambria" panose="02040503050406030204" pitchFamily="18" charset="0"/>
                        </a:rPr>
                        <a:t>Journal</a:t>
                      </a:r>
                      <a:r>
                        <a:rPr lang="en-US" sz="2000" baseline="0" dirty="0">
                          <a:latin typeface="Cambria" panose="02040503050406030204" pitchFamily="18" charset="0"/>
                          <a:ea typeface="Cambria" panose="02040503050406030204" pitchFamily="18" charset="0"/>
                        </a:rPr>
                        <a:t> citation  </a:t>
                      </a:r>
                      <a:endParaRPr lang="en-US" sz="2000" dirty="0">
                        <a:latin typeface="Cambria" panose="02040503050406030204" pitchFamily="18" charset="0"/>
                        <a:ea typeface="Cambria" panose="02040503050406030204" pitchFamily="18" charset="0"/>
                      </a:endParaRPr>
                    </a:p>
                  </a:txBody>
                  <a:tcPr/>
                </a:tc>
                <a:tc>
                  <a:txBody>
                    <a:bodyPr/>
                    <a:lstStyle/>
                    <a:p>
                      <a:pPr algn="ctr"/>
                      <a:r>
                        <a:rPr lang="en-US" sz="2000" dirty="0">
                          <a:latin typeface="Cambria" panose="02040503050406030204" pitchFamily="18" charset="0"/>
                          <a:ea typeface="Cambria" panose="02040503050406030204" pitchFamily="18" charset="0"/>
                        </a:rPr>
                        <a:t>Inference</a:t>
                      </a:r>
                    </a:p>
                  </a:txBody>
                  <a:tcPr/>
                </a:tc>
                <a:extLst>
                  <a:ext uri="{0D108BD9-81ED-4DB2-BD59-A6C34878D82A}">
                    <a16:rowId xmlns:a16="http://schemas.microsoft.com/office/drawing/2014/main" val="10000"/>
                  </a:ext>
                </a:extLst>
              </a:tr>
              <a:tr h="869940">
                <a:tc>
                  <a:txBody>
                    <a:bodyPr/>
                    <a:lstStyle/>
                    <a:p>
                      <a:pPr>
                        <a:buNone/>
                      </a:pPr>
                      <a:r>
                        <a:rPr lang="en-IN" dirty="0"/>
                        <a:t>1</a:t>
                      </a:r>
                    </a:p>
                  </a:txBody>
                  <a:tcPr anchor="ctr"/>
                </a:tc>
                <a:tc>
                  <a:txBody>
                    <a:bodyPr/>
                    <a:lstStyle/>
                    <a:p>
                      <a:pPr>
                        <a:buNone/>
                      </a:pPr>
                      <a:r>
                        <a:rPr lang="en-US" dirty="0"/>
                        <a:t>IoT Based Gas Leakage Detection and Alert System</a:t>
                      </a:r>
                    </a:p>
                  </a:txBody>
                  <a:tcPr anchor="ctr"/>
                </a:tc>
                <a:tc>
                  <a:txBody>
                    <a:bodyPr/>
                    <a:lstStyle/>
                    <a:p>
                      <a:pPr>
                        <a:buNone/>
                      </a:pPr>
                      <a:r>
                        <a:rPr lang="en-US" dirty="0"/>
                        <a:t>International Journal of Engineering Research &amp; Technology (IJERT)</a:t>
                      </a:r>
                    </a:p>
                  </a:txBody>
                  <a:tcPr anchor="ctr"/>
                </a:tc>
                <a:tc>
                  <a:txBody>
                    <a:bodyPr/>
                    <a:lstStyle/>
                    <a:p>
                      <a:pPr>
                        <a:buNone/>
                      </a:pPr>
                      <a:r>
                        <a:rPr lang="en-US" dirty="0"/>
                        <a:t>Gas sensors integrated with IoT can detect LPG leakage early and send alerts to users, improving safety</a:t>
                      </a:r>
                    </a:p>
                  </a:txBody>
                  <a:tcPr anchor="ctr"/>
                </a:tc>
                <a:extLst>
                  <a:ext uri="{0D108BD9-81ED-4DB2-BD59-A6C34878D82A}">
                    <a16:rowId xmlns:a16="http://schemas.microsoft.com/office/drawing/2014/main" val="10001"/>
                  </a:ext>
                </a:extLst>
              </a:tr>
              <a:tr h="1130921">
                <a:tc>
                  <a:txBody>
                    <a:bodyPr/>
                    <a:lstStyle/>
                    <a:p>
                      <a:pPr>
                        <a:buNone/>
                      </a:pPr>
                      <a:r>
                        <a:rPr lang="en-IN"/>
                        <a:t>2</a:t>
                      </a:r>
                    </a:p>
                  </a:txBody>
                  <a:tcPr anchor="ctr"/>
                </a:tc>
                <a:tc>
                  <a:txBody>
                    <a:bodyPr/>
                    <a:lstStyle/>
                    <a:p>
                      <a:pPr>
                        <a:buNone/>
                      </a:pPr>
                      <a:r>
                        <a:rPr lang="en-IN"/>
                        <a:t>Smart Gas Leakage Monitoring System Using Arduino</a:t>
                      </a:r>
                    </a:p>
                  </a:txBody>
                  <a:tcPr anchor="ctr"/>
                </a:tc>
                <a:tc>
                  <a:txBody>
                    <a:bodyPr/>
                    <a:lstStyle/>
                    <a:p>
                      <a:pPr>
                        <a:buNone/>
                      </a:pPr>
                      <a:r>
                        <a:rPr lang="en-US"/>
                        <a:t>International Journal of Scientific Research in Computer Science Engineering (IJSRCSE)</a:t>
                      </a:r>
                    </a:p>
                  </a:txBody>
                  <a:tcPr anchor="ctr"/>
                </a:tc>
                <a:tc>
                  <a:txBody>
                    <a:bodyPr/>
                    <a:lstStyle/>
                    <a:p>
                      <a:pPr>
                        <a:buNone/>
                      </a:pPr>
                      <a:r>
                        <a:rPr lang="en-US"/>
                        <a:t>Automatic gas detection reduces dependency on human senses like smell</a:t>
                      </a:r>
                    </a:p>
                  </a:txBody>
                  <a:tcPr anchor="ctr"/>
                </a:tc>
                <a:extLst>
                  <a:ext uri="{0D108BD9-81ED-4DB2-BD59-A6C34878D82A}">
                    <a16:rowId xmlns:a16="http://schemas.microsoft.com/office/drawing/2014/main" val="10002"/>
                  </a:ext>
                </a:extLst>
              </a:tr>
              <a:tr h="1391903">
                <a:tc>
                  <a:txBody>
                    <a:bodyPr/>
                    <a:lstStyle/>
                    <a:p>
                      <a:pPr>
                        <a:buNone/>
                      </a:pPr>
                      <a:r>
                        <a:rPr lang="en-IN"/>
                        <a:t>3</a:t>
                      </a:r>
                    </a:p>
                  </a:txBody>
                  <a:tcPr anchor="ctr"/>
                </a:tc>
                <a:tc>
                  <a:txBody>
                    <a:bodyPr/>
                    <a:lstStyle/>
                    <a:p>
                      <a:pPr>
                        <a:buNone/>
                      </a:pPr>
                      <a:r>
                        <a:rPr lang="en-US"/>
                        <a:t>Automatic Gas Shut-Off System for Domestic Safety</a:t>
                      </a:r>
                    </a:p>
                  </a:txBody>
                  <a:tcPr anchor="ctr"/>
                </a:tc>
                <a:tc>
                  <a:txBody>
                    <a:bodyPr/>
                    <a:lstStyle/>
                    <a:p>
                      <a:pPr>
                        <a:buNone/>
                      </a:pPr>
                      <a:r>
                        <a:rPr lang="en-US"/>
                        <a:t>International Journal of Advanced Research in Electrical, Electronics and Instrumentation Engineering (IJAREEIE)</a:t>
                      </a:r>
                    </a:p>
                  </a:txBody>
                  <a:tcPr anchor="ctr"/>
                </a:tc>
                <a:tc>
                  <a:txBody>
                    <a:bodyPr/>
                    <a:lstStyle/>
                    <a:p>
                      <a:pPr>
                        <a:buNone/>
                      </a:pPr>
                      <a:r>
                        <a:rPr lang="en-US"/>
                        <a:t>Autonomous shut-off mechanisms significantly reduce accident severity during leakage</a:t>
                      </a:r>
                    </a:p>
                  </a:txBody>
                  <a:tcPr anchor="ctr"/>
                </a:tc>
                <a:extLst>
                  <a:ext uri="{0D108BD9-81ED-4DB2-BD59-A6C34878D82A}">
                    <a16:rowId xmlns:a16="http://schemas.microsoft.com/office/drawing/2014/main" val="10003"/>
                  </a:ext>
                </a:extLst>
              </a:tr>
              <a:tr h="869940">
                <a:tc>
                  <a:txBody>
                    <a:bodyPr/>
                    <a:lstStyle/>
                    <a:p>
                      <a:pPr>
                        <a:buNone/>
                      </a:pPr>
                      <a:r>
                        <a:rPr lang="en-IN"/>
                        <a:t>4</a:t>
                      </a:r>
                    </a:p>
                  </a:txBody>
                  <a:tcPr anchor="ctr"/>
                </a:tc>
                <a:tc>
                  <a:txBody>
                    <a:bodyPr/>
                    <a:lstStyle/>
                    <a:p>
                      <a:pPr>
                        <a:buNone/>
                      </a:pPr>
                      <a:r>
                        <a:rPr lang="en-US"/>
                        <a:t>LPG Gas Leakage Detection and Prevention System</a:t>
                      </a:r>
                    </a:p>
                  </a:txBody>
                  <a:tcPr anchor="ctr"/>
                </a:tc>
                <a:tc>
                  <a:txBody>
                    <a:bodyPr/>
                    <a:lstStyle/>
                    <a:p>
                      <a:pPr>
                        <a:buNone/>
                      </a:pPr>
                      <a:r>
                        <a:rPr lang="en-US"/>
                        <a:t>IEEE International Conference on Smart Systems</a:t>
                      </a:r>
                    </a:p>
                  </a:txBody>
                  <a:tcPr anchor="ctr"/>
                </a:tc>
                <a:tc>
                  <a:txBody>
                    <a:bodyPr/>
                    <a:lstStyle/>
                    <a:p>
                      <a:pPr>
                        <a:buNone/>
                      </a:pPr>
                      <a:r>
                        <a:rPr lang="en-US"/>
                        <a:t>Real-time monitoring and control improve response time during emergencies</a:t>
                      </a:r>
                    </a:p>
                  </a:txBody>
                  <a:tcPr anchor="ctr"/>
                </a:tc>
                <a:extLst>
                  <a:ext uri="{0D108BD9-81ED-4DB2-BD59-A6C34878D82A}">
                    <a16:rowId xmlns:a16="http://schemas.microsoft.com/office/drawing/2014/main" val="2555898395"/>
                  </a:ext>
                </a:extLst>
              </a:tr>
              <a:tr h="869940">
                <a:tc>
                  <a:txBody>
                    <a:bodyPr/>
                    <a:lstStyle/>
                    <a:p>
                      <a:pPr>
                        <a:buNone/>
                      </a:pPr>
                      <a:r>
                        <a:rPr lang="en-IN"/>
                        <a:t>5</a:t>
                      </a:r>
                    </a:p>
                  </a:txBody>
                  <a:tcPr anchor="ctr"/>
                </a:tc>
                <a:tc>
                  <a:txBody>
                    <a:bodyPr/>
                    <a:lstStyle/>
                    <a:p>
                      <a:pPr>
                        <a:buNone/>
                      </a:pPr>
                      <a:r>
                        <a:rPr lang="en-US"/>
                        <a:t>IoT-Based Home Safety and Gas Monitoring System</a:t>
                      </a:r>
                    </a:p>
                  </a:txBody>
                  <a:tcPr anchor="ctr"/>
                </a:tc>
                <a:tc>
                  <a:txBody>
                    <a:bodyPr/>
                    <a:lstStyle/>
                    <a:p>
                      <a:pPr>
                        <a:buNone/>
                      </a:pPr>
                      <a:r>
                        <a:rPr lang="en-US"/>
                        <a:t>International Journal of Innovative Technology and Exploring Engineering (IJITEE)</a:t>
                      </a:r>
                    </a:p>
                  </a:txBody>
                  <a:tcPr anchor="ctr"/>
                </a:tc>
                <a:tc>
                  <a:txBody>
                    <a:bodyPr/>
                    <a:lstStyle/>
                    <a:p>
                      <a:pPr>
                        <a:buNone/>
                      </a:pPr>
                      <a:r>
                        <a:rPr lang="en-US" dirty="0"/>
                        <a:t>Combining detection, alert, and control ensures comprehensive household safety</a:t>
                      </a:r>
                    </a:p>
                  </a:txBody>
                  <a:tcPr anchor="ctr"/>
                </a:tc>
                <a:extLst>
                  <a:ext uri="{0D108BD9-81ED-4DB2-BD59-A6C34878D82A}">
                    <a16:rowId xmlns:a16="http://schemas.microsoft.com/office/drawing/2014/main" val="2618697662"/>
                  </a:ext>
                </a:extLst>
              </a:tr>
            </a:tbl>
          </a:graphicData>
        </a:graphic>
      </p:graphicFrame>
      <p:sp>
        <p:nvSpPr>
          <p:cNvPr id="2" name="TextBox 1">
            <a:extLst>
              <a:ext uri="{FF2B5EF4-FFF2-40B4-BE49-F238E27FC236}">
                <a16:creationId xmlns:a16="http://schemas.microsoft.com/office/drawing/2014/main" id="{C45C9BCC-6706-D915-CD83-24B1AF54F3BF}"/>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IOT-Enabled Smart Gas Detection and Autonomous Shut-off System</a:t>
            </a:r>
          </a:p>
        </p:txBody>
      </p:sp>
    </p:spTree>
    <p:extLst>
      <p:ext uri="{BB962C8B-B14F-4D97-AF65-F5344CB8AC3E}">
        <p14:creationId xmlns:p14="http://schemas.microsoft.com/office/powerpoint/2010/main" val="2166929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90EE39-82A8-4ECD-9F2F-122B8BC51252}" type="slidenum">
              <a:rPr lang="en-US" smtClean="0"/>
              <a:t>8</a:t>
            </a:fld>
            <a:endParaRPr lang="en-US" dirty="0"/>
          </a:p>
        </p:txBody>
      </p:sp>
      <p:sp>
        <p:nvSpPr>
          <p:cNvPr id="6" name="Title 1"/>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latin typeface="Cambria" panose="02040503050406030204" pitchFamily="18" charset="0"/>
                <a:ea typeface="Cambria" panose="02040503050406030204" pitchFamily="18" charset="0"/>
              </a:rPr>
              <a:t>1. EMPATHIZE - </a:t>
            </a:r>
            <a:r>
              <a:rPr lang="en-US" sz="2800" b="1" dirty="0">
                <a:latin typeface="Cambria" panose="02040503050406030204" pitchFamily="18" charset="0"/>
                <a:ea typeface="Cambria" panose="02040503050406030204" pitchFamily="18" charset="0"/>
              </a:rPr>
              <a:t> FIELD STUDY &amp; PRIOT ART SEARCH (Patent Search)</a:t>
            </a:r>
            <a:endParaRPr lang="en-US" sz="2800"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9F06D2D1-10AD-2F53-CE72-28DC82048C46}"/>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IOT-Enabled Smart Gas Detection and Autonomous Shut-off System</a:t>
            </a:r>
            <a:endParaRPr lang="en-IN" sz="1600" i="1" dirty="0">
              <a:solidFill>
                <a:schemeClr val="tx1"/>
              </a:solidFill>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F46E1F58-14AF-3160-90A5-03B0994BC3F6}"/>
              </a:ext>
            </a:extLst>
          </p:cNvPr>
          <p:cNvSpPr txBox="1"/>
          <p:nvPr/>
        </p:nvSpPr>
        <p:spPr>
          <a:xfrm>
            <a:off x="67186" y="925090"/>
            <a:ext cx="8327006" cy="483209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Key Insights</a:t>
            </a:r>
          </a:p>
          <a:p>
            <a:r>
              <a:rPr lang="en-US" sz="2000" dirty="0">
                <a:latin typeface="Times New Roman" panose="02020603050405020304" pitchFamily="18" charset="0"/>
                <a:cs typeface="Times New Roman" panose="02020603050405020304" pitchFamily="18" charset="0"/>
              </a:rPr>
              <a:t>Gas leakage incidents are often </a:t>
            </a:r>
            <a:r>
              <a:rPr lang="en-US" sz="2000" b="1" dirty="0">
                <a:latin typeface="Times New Roman" panose="02020603050405020304" pitchFamily="18" charset="0"/>
                <a:cs typeface="Times New Roman" panose="02020603050405020304" pitchFamily="18" charset="0"/>
              </a:rPr>
              <a:t>detected late</a:t>
            </a:r>
            <a:r>
              <a:rPr lang="en-US" sz="2000" dirty="0">
                <a:latin typeface="Times New Roman" panose="02020603050405020304" pitchFamily="18" charset="0"/>
                <a:cs typeface="Times New Roman" panose="02020603050405020304" pitchFamily="18" charset="0"/>
              </a:rPr>
              <a:t> due to reliance on human senses</a:t>
            </a:r>
          </a:p>
          <a:p>
            <a:r>
              <a:rPr lang="en-US" sz="2000" dirty="0">
                <a:latin typeface="Times New Roman" panose="02020603050405020304" pitchFamily="18" charset="0"/>
                <a:cs typeface="Times New Roman" panose="02020603050405020304" pitchFamily="18" charset="0"/>
              </a:rPr>
              <a:t>Panic situations lead to </a:t>
            </a:r>
            <a:r>
              <a:rPr lang="en-US" sz="2000" b="1" dirty="0">
                <a:latin typeface="Times New Roman" panose="02020603050405020304" pitchFamily="18" charset="0"/>
                <a:cs typeface="Times New Roman" panose="02020603050405020304" pitchFamily="18" charset="0"/>
              </a:rPr>
              <a:t>delayed or incorrect responses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Manual gas shut-off is </a:t>
            </a:r>
            <a:r>
              <a:rPr lang="en-US" sz="2000" b="1" dirty="0">
                <a:latin typeface="Times New Roman" panose="02020603050405020304" pitchFamily="18" charset="0"/>
                <a:cs typeface="Times New Roman" panose="02020603050405020304" pitchFamily="18" charset="0"/>
              </a:rPr>
              <a:t>not reliable</a:t>
            </a:r>
            <a:r>
              <a:rPr lang="en-US" sz="2000" dirty="0">
                <a:latin typeface="Times New Roman" panose="02020603050405020304" pitchFamily="18" charset="0"/>
                <a:cs typeface="Times New Roman" panose="02020603050405020304" pitchFamily="18" charset="0"/>
              </a:rPr>
              <a:t> during emergencies or absence</a:t>
            </a:r>
          </a:p>
          <a:p>
            <a:r>
              <a:rPr lang="en-US" sz="2000" dirty="0">
                <a:latin typeface="Times New Roman" panose="02020603050405020304" pitchFamily="18" charset="0"/>
                <a:cs typeface="Times New Roman" panose="02020603050405020304" pitchFamily="18" charset="0"/>
              </a:rPr>
              <a:t>Existing systems lack </a:t>
            </a:r>
            <a:r>
              <a:rPr lang="en-US" sz="2000" b="1" dirty="0">
                <a:latin typeface="Times New Roman" panose="02020603050405020304" pitchFamily="18" charset="0"/>
                <a:cs typeface="Times New Roman" panose="02020603050405020304" pitchFamily="18" charset="0"/>
              </a:rPr>
              <a:t>preventive action</a:t>
            </a:r>
            <a:r>
              <a:rPr lang="en-US" sz="2000" dirty="0">
                <a:latin typeface="Times New Roman" panose="02020603050405020304" pitchFamily="18" charset="0"/>
                <a:cs typeface="Times New Roman" panose="02020603050405020304" pitchFamily="18" charset="0"/>
              </a:rPr>
              <a:t>, offering only alarms</a:t>
            </a:r>
          </a:p>
          <a:p>
            <a:r>
              <a:rPr lang="en-US" sz="2000" dirty="0">
                <a:latin typeface="Times New Roman" panose="02020603050405020304" pitchFamily="18" charset="0"/>
                <a:cs typeface="Times New Roman" panose="02020603050405020304" pitchFamily="18" charset="0"/>
              </a:rPr>
              <a:t>Users desire </a:t>
            </a:r>
            <a:r>
              <a:rPr lang="en-US" sz="2000" b="1" dirty="0">
                <a:latin typeface="Times New Roman" panose="02020603050405020304" pitchFamily="18" charset="0"/>
                <a:cs typeface="Times New Roman" panose="02020603050405020304" pitchFamily="18" charset="0"/>
              </a:rPr>
              <a:t>automatic safety solutions</a:t>
            </a:r>
            <a:r>
              <a:rPr lang="en-US" sz="2000" dirty="0">
                <a:latin typeface="Times New Roman" panose="02020603050405020304" pitchFamily="18" charset="0"/>
                <a:cs typeface="Times New Roman" panose="02020603050405020304" pitchFamily="18" charset="0"/>
              </a:rPr>
              <a:t> without technical complexity</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Opportunity Areas</a:t>
            </a:r>
          </a:p>
          <a:p>
            <a:r>
              <a:rPr lang="en-US" sz="2000" dirty="0">
                <a:latin typeface="Times New Roman" panose="02020603050405020304" pitchFamily="18" charset="0"/>
                <a:cs typeface="Times New Roman" panose="02020603050405020304" pitchFamily="18" charset="0"/>
              </a:rPr>
              <a:t>Real-time gas leakage detection without human intervention</a:t>
            </a:r>
          </a:p>
          <a:p>
            <a:r>
              <a:rPr lang="en-US" sz="2000" dirty="0">
                <a:latin typeface="Times New Roman" panose="02020603050405020304" pitchFamily="18" charset="0"/>
                <a:cs typeface="Times New Roman" panose="02020603050405020304" pitchFamily="18" charset="0"/>
              </a:rPr>
              <a:t>Automatic gas shut-off to prevent escalation of accidents</a:t>
            </a:r>
          </a:p>
          <a:p>
            <a:r>
              <a:rPr lang="en-US" sz="2000" dirty="0">
                <a:latin typeface="Times New Roman" panose="02020603050405020304" pitchFamily="18" charset="0"/>
                <a:cs typeface="Times New Roman" panose="02020603050405020304" pitchFamily="18" charset="0"/>
              </a:rPr>
              <a:t>Remote alerts to inform users even when they are away</a:t>
            </a:r>
          </a:p>
          <a:p>
            <a:r>
              <a:rPr lang="en-US" sz="2000" dirty="0">
                <a:latin typeface="Times New Roman" panose="02020603050405020304" pitchFamily="18" charset="0"/>
                <a:cs typeface="Times New Roman" panose="02020603050405020304" pitchFamily="18" charset="0"/>
              </a:rPr>
              <a:t>Affordable and easy-to-install solution for households and small kitchens</a:t>
            </a:r>
          </a:p>
          <a:p>
            <a:r>
              <a:rPr lang="en-US" sz="2000" dirty="0">
                <a:latin typeface="Times New Roman" panose="02020603050405020304" pitchFamily="18" charset="0"/>
                <a:cs typeface="Times New Roman" panose="02020603050405020304" pitchFamily="18" charset="0"/>
              </a:rPr>
              <a:t>User-friendly system requiring minimal maintenance</a:t>
            </a:r>
          </a:p>
        </p:txBody>
      </p:sp>
    </p:spTree>
    <p:extLst>
      <p:ext uri="{BB962C8B-B14F-4D97-AF65-F5344CB8AC3E}">
        <p14:creationId xmlns:p14="http://schemas.microsoft.com/office/powerpoint/2010/main" val="972734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90EE39-82A8-4ECD-9F2F-122B8BC51252}" type="slidenum">
              <a:rPr lang="en-US" smtClean="0"/>
              <a:t>9</a:t>
            </a:fld>
            <a:endParaRPr lang="en-US" dirty="0"/>
          </a:p>
        </p:txBody>
      </p:sp>
      <p:sp>
        <p:nvSpPr>
          <p:cNvPr id="6" name="Title 1"/>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ambria" panose="02040503050406030204" pitchFamily="18" charset="0"/>
                <a:ea typeface="Cambria" panose="02040503050406030204" pitchFamily="18" charset="0"/>
              </a:rPr>
              <a:t>2. DEFINE</a:t>
            </a:r>
            <a:endParaRPr lang="en-US" sz="3200"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A659AFA1-3CC2-72C9-AB35-80C15DF70B97}"/>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IOT-Enabled Smart Gas Detection and Autonomous Shut-off System</a:t>
            </a:r>
            <a:endParaRPr lang="en-IN" sz="1600" i="1" dirty="0">
              <a:solidFill>
                <a:schemeClr val="tx1"/>
              </a:solidFill>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EB5EE722-F551-7FD3-D112-5B609BE83EBC}"/>
              </a:ext>
            </a:extLst>
          </p:cNvPr>
          <p:cNvSpPr txBox="1"/>
          <p:nvPr/>
        </p:nvSpPr>
        <p:spPr>
          <a:xfrm>
            <a:off x="115759" y="907188"/>
            <a:ext cx="9000809" cy="3600986"/>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Problem Analysis &amp; Need Identification</a:t>
            </a:r>
          </a:p>
          <a:p>
            <a:pPr marL="342900" indent="-342900">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Insights from the empathize stage were analyzed to identify the </a:t>
            </a:r>
            <a:r>
              <a:rPr lang="en-US" sz="2000" b="1" dirty="0">
                <a:latin typeface="Times New Roman" panose="02020603050405020304" pitchFamily="18" charset="0"/>
                <a:cs typeface="Times New Roman" panose="02020603050405020304" pitchFamily="18" charset="0"/>
              </a:rPr>
              <a:t>core user problem</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Gas leakage incidents are </a:t>
            </a:r>
            <a:r>
              <a:rPr lang="en-US" sz="2000" b="1" dirty="0">
                <a:latin typeface="Times New Roman" panose="02020603050405020304" pitchFamily="18" charset="0"/>
                <a:cs typeface="Times New Roman" panose="02020603050405020304" pitchFamily="18" charset="0"/>
              </a:rPr>
              <a:t>unpredictable</a:t>
            </a:r>
            <a:r>
              <a:rPr lang="en-US" sz="2000" dirty="0">
                <a:latin typeface="Times New Roman" panose="02020603050405020304" pitchFamily="18" charset="0"/>
                <a:cs typeface="Times New Roman" panose="02020603050405020304" pitchFamily="18" charset="0"/>
              </a:rPr>
              <a:t> and require immediate action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Human-dependent detection and response are </a:t>
            </a:r>
            <a:r>
              <a:rPr lang="en-US" sz="2000" b="1" dirty="0">
                <a:latin typeface="Times New Roman" panose="02020603050405020304" pitchFamily="18" charset="0"/>
                <a:cs typeface="Times New Roman" panose="02020603050405020304" pitchFamily="18" charset="0"/>
              </a:rPr>
              <a:t>slow and unreliable</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Delay in shutting off gas supply increases </a:t>
            </a:r>
            <a:r>
              <a:rPr lang="en-US" sz="2000" b="1" dirty="0">
                <a:latin typeface="Times New Roman" panose="02020603050405020304" pitchFamily="18" charset="0"/>
                <a:cs typeface="Times New Roman" panose="02020603050405020304" pitchFamily="18" charset="0"/>
              </a:rPr>
              <a:t>risk of fire and explosion</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Existing solutions lack </a:t>
            </a:r>
            <a:r>
              <a:rPr lang="en-US" sz="2000" b="1" dirty="0">
                <a:latin typeface="Times New Roman" panose="02020603050405020304" pitchFamily="18" charset="0"/>
                <a:cs typeface="Times New Roman" panose="02020603050405020304" pitchFamily="18" charset="0"/>
              </a:rPr>
              <a:t>automation and remote monitoring</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Users need a system that works </a:t>
            </a:r>
            <a:r>
              <a:rPr lang="en-US" sz="2000" b="1" dirty="0">
                <a:latin typeface="Times New Roman" panose="02020603050405020304" pitchFamily="18" charset="0"/>
                <a:cs typeface="Times New Roman" panose="02020603050405020304" pitchFamily="18" charset="0"/>
              </a:rPr>
              <a:t>continuously without supervision</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Safety solutions must be </a:t>
            </a:r>
            <a:r>
              <a:rPr lang="en-US" sz="2000" b="1" dirty="0">
                <a:latin typeface="Times New Roman" panose="02020603050405020304" pitchFamily="18" charset="0"/>
                <a:cs typeface="Times New Roman" panose="02020603050405020304" pitchFamily="18" charset="0"/>
              </a:rPr>
              <a:t>affordable, reliable, and easy to use</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problem is clearly defined to guide </a:t>
            </a:r>
            <a:r>
              <a:rPr lang="en-US" sz="2000" b="1" dirty="0">
                <a:latin typeface="Times New Roman" panose="02020603050405020304" pitchFamily="18" charset="0"/>
                <a:cs typeface="Times New Roman" panose="02020603050405020304" pitchFamily="18" charset="0"/>
              </a:rPr>
              <a:t>focused ideation and solution development</a:t>
            </a:r>
            <a:endParaRPr lang="en-US"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BDFF715-4B3B-9651-D3EB-8EFA0DB36B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9808" y="2066380"/>
            <a:ext cx="3736783" cy="3736783"/>
          </a:xfrm>
          <a:prstGeom prst="rect">
            <a:avLst/>
          </a:prstGeom>
        </p:spPr>
      </p:pic>
    </p:spTree>
    <p:extLst>
      <p:ext uri="{BB962C8B-B14F-4D97-AF65-F5344CB8AC3E}">
        <p14:creationId xmlns:p14="http://schemas.microsoft.com/office/powerpoint/2010/main" val="2610216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8BB52-8FD0-8A6E-FF64-DDF06E31556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8B2366-9B1F-4508-824B-551990968FFE}"/>
              </a:ext>
            </a:extLst>
          </p:cNvPr>
          <p:cNvSpPr>
            <a:spLocks noGrp="1"/>
          </p:cNvSpPr>
          <p:nvPr>
            <p:ph type="sldNum" sz="quarter" idx="12"/>
          </p:nvPr>
        </p:nvSpPr>
        <p:spPr/>
        <p:txBody>
          <a:bodyPr/>
          <a:lstStyle/>
          <a:p>
            <a:fld id="{2A90EE39-82A8-4ECD-9F2F-122B8BC51252}" type="slidenum">
              <a:rPr lang="en-US" smtClean="0"/>
              <a:t>10</a:t>
            </a:fld>
            <a:endParaRPr lang="en-US" dirty="0"/>
          </a:p>
        </p:txBody>
      </p:sp>
      <p:sp>
        <p:nvSpPr>
          <p:cNvPr id="6" name="Title 1">
            <a:extLst>
              <a:ext uri="{FF2B5EF4-FFF2-40B4-BE49-F238E27FC236}">
                <a16:creationId xmlns:a16="http://schemas.microsoft.com/office/drawing/2014/main" id="{C83EF343-C426-12CF-0F2E-2D081D5F3681}"/>
              </a:ext>
            </a:extLst>
          </p:cNvPr>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ambria" panose="02040503050406030204" pitchFamily="18" charset="0"/>
                <a:ea typeface="Cambria" panose="02040503050406030204" pitchFamily="18" charset="0"/>
              </a:rPr>
              <a:t>2. DEFINE - </a:t>
            </a:r>
            <a:r>
              <a:rPr lang="en-US" sz="3200" dirty="0"/>
              <a:t>Structured Problem Definition </a:t>
            </a:r>
            <a:endParaRPr lang="en-US" sz="3200"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73EE8848-54BA-722A-2A8C-D4CC1C2F510A}"/>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3" name="Date Placeholder 2">
            <a:extLst>
              <a:ext uri="{FF2B5EF4-FFF2-40B4-BE49-F238E27FC236}">
                <a16:creationId xmlns:a16="http://schemas.microsoft.com/office/drawing/2014/main" id="{4DD3072D-CBCC-938F-027D-C6684433B269}"/>
              </a:ext>
            </a:extLst>
          </p:cNvPr>
          <p:cNvSpPr>
            <a:spLocks noGrp="1"/>
          </p:cNvSpPr>
          <p:nvPr>
            <p:ph type="dt" sz="half" idx="10"/>
          </p:nvPr>
        </p:nvSpPr>
        <p:spPr/>
        <p:txBody>
          <a:bodyPr/>
          <a:lstStyle/>
          <a:p>
            <a:fld id="{49575248-3253-4775-92D8-EDA604F7E88A}" type="datetime1">
              <a:rPr lang="en-US" smtClean="0"/>
              <a:t>1/27/2026</a:t>
            </a:fld>
            <a:endParaRPr lang="en-US" dirty="0"/>
          </a:p>
        </p:txBody>
      </p:sp>
      <p:sp>
        <p:nvSpPr>
          <p:cNvPr id="7" name="TextBox 6">
            <a:extLst>
              <a:ext uri="{FF2B5EF4-FFF2-40B4-BE49-F238E27FC236}">
                <a16:creationId xmlns:a16="http://schemas.microsoft.com/office/drawing/2014/main" id="{0CF51F16-9063-5066-436E-968EC9816305}"/>
              </a:ext>
            </a:extLst>
          </p:cNvPr>
          <p:cNvSpPr txBox="1"/>
          <p:nvPr/>
        </p:nvSpPr>
        <p:spPr>
          <a:xfrm>
            <a:off x="274320" y="751840"/>
            <a:ext cx="6634851" cy="46474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a:ea typeface="+mn-lt"/>
                <a:cs typeface="+mn-lt"/>
              </a:rPr>
              <a:t>Users of LPG gas cylinders in households and small commercial kitchens face a significant safety risk due to delayed, incorrect, or ineffective response during gas leakage incidents. Gas leakage events are sudden, unpredictable, and often occur when users are unprepared, distracted, asleep, or not physically present near the cylinder.</a:t>
            </a:r>
            <a:endParaRPr lang="en-US" sz="2000" dirty="0">
              <a:latin typeface="Times New Roman"/>
              <a:ea typeface="Calibri"/>
              <a:cs typeface="Calibri"/>
            </a:endParaRPr>
          </a:p>
          <a:p>
            <a:pPr algn="just"/>
            <a:r>
              <a:rPr lang="en-US" sz="2000" dirty="0">
                <a:latin typeface="Times New Roman"/>
                <a:ea typeface="+mn-lt"/>
                <a:cs typeface="+mn-lt"/>
              </a:rPr>
              <a:t>Existing gas safety systems primarily depend on human detection through smell or alarm alerts and require manual intervention to shut off the gas supply.</a:t>
            </a:r>
            <a:br>
              <a:rPr lang="en-US" sz="2000" dirty="0">
                <a:latin typeface="Times New Roman"/>
                <a:ea typeface="+mn-lt"/>
                <a:cs typeface="+mn-lt"/>
              </a:rPr>
            </a:br>
            <a:r>
              <a:rPr lang="en-US" sz="2000" dirty="0">
                <a:latin typeface="Times New Roman"/>
                <a:ea typeface="+mn-lt"/>
                <a:cs typeface="+mn-lt"/>
              </a:rPr>
              <a:t>By eliminating dependence on human intervention, such a system can significantly reduce accident severity, improve household and workplace safety, and provide users with confidence and peace of mind during daily gas usage.</a:t>
            </a:r>
            <a:endParaRPr lang="en-US" sz="2000" dirty="0">
              <a:latin typeface="Times New Roman"/>
              <a:cs typeface="Times New Roman"/>
            </a:endParaRPr>
          </a:p>
          <a:p>
            <a:br>
              <a:rPr lang="en-US" dirty="0"/>
            </a:br>
            <a:endParaRPr lang="en-US" dirty="0"/>
          </a:p>
        </p:txBody>
      </p:sp>
      <p:pic>
        <p:nvPicPr>
          <p:cNvPr id="10" name="Picture 9" descr="A diagram of a kitchen&#10;&#10;AI-generated content may be incorrect.">
            <a:extLst>
              <a:ext uri="{FF2B5EF4-FFF2-40B4-BE49-F238E27FC236}">
                <a16:creationId xmlns:a16="http://schemas.microsoft.com/office/drawing/2014/main" id="{5BC4897D-0FA9-D0F2-9976-0DA35F387A42}"/>
              </a:ext>
            </a:extLst>
          </p:cNvPr>
          <p:cNvPicPr>
            <a:picLocks noChangeAspect="1"/>
          </p:cNvPicPr>
          <p:nvPr/>
        </p:nvPicPr>
        <p:blipFill>
          <a:blip r:embed="rId2"/>
          <a:stretch>
            <a:fillRect/>
          </a:stretch>
        </p:blipFill>
        <p:spPr>
          <a:xfrm>
            <a:off x="7188929" y="680720"/>
            <a:ext cx="3676461" cy="5445760"/>
          </a:xfrm>
          <a:prstGeom prst="rect">
            <a:avLst/>
          </a:prstGeom>
        </p:spPr>
      </p:pic>
    </p:spTree>
    <p:extLst>
      <p:ext uri="{BB962C8B-B14F-4D97-AF65-F5344CB8AC3E}">
        <p14:creationId xmlns:p14="http://schemas.microsoft.com/office/powerpoint/2010/main" val="2124209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D0D6B-14E1-C5E5-243E-FB4DAB9B48D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79E67EC-5276-9A18-301C-E7D4F6CE2EDF}"/>
              </a:ext>
            </a:extLst>
          </p:cNvPr>
          <p:cNvSpPr>
            <a:spLocks noGrp="1"/>
          </p:cNvSpPr>
          <p:nvPr>
            <p:ph type="sldNum" sz="quarter" idx="12"/>
          </p:nvPr>
        </p:nvSpPr>
        <p:spPr/>
        <p:txBody>
          <a:bodyPr/>
          <a:lstStyle/>
          <a:p>
            <a:fld id="{2A90EE39-82A8-4ECD-9F2F-122B8BC51252}" type="slidenum">
              <a:rPr lang="en-US" smtClean="0"/>
              <a:t>11</a:t>
            </a:fld>
            <a:endParaRPr lang="en-US" dirty="0"/>
          </a:p>
        </p:txBody>
      </p:sp>
      <p:sp>
        <p:nvSpPr>
          <p:cNvPr id="6" name="Title 1">
            <a:extLst>
              <a:ext uri="{FF2B5EF4-FFF2-40B4-BE49-F238E27FC236}">
                <a16:creationId xmlns:a16="http://schemas.microsoft.com/office/drawing/2014/main" id="{9717B9F4-E928-944D-8B32-A43AE095695E}"/>
              </a:ext>
            </a:extLst>
          </p:cNvPr>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ambria" panose="02040503050406030204" pitchFamily="18" charset="0"/>
                <a:ea typeface="Cambria" panose="02040503050406030204" pitchFamily="18" charset="0"/>
              </a:rPr>
              <a:t>2. DEFINE - </a:t>
            </a:r>
            <a:r>
              <a:rPr lang="en-IN" sz="3200" dirty="0"/>
              <a:t>User Persona &amp; Journey</a:t>
            </a:r>
            <a:r>
              <a:rPr lang="en-IN" sz="3200" b="1" dirty="0"/>
              <a:t> </a:t>
            </a:r>
            <a:endParaRPr lang="en-US" sz="3200"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446A7AF2-C5CD-9D2C-8A39-BEE119CD87DC}"/>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3" name="Date Placeholder 2">
            <a:extLst>
              <a:ext uri="{FF2B5EF4-FFF2-40B4-BE49-F238E27FC236}">
                <a16:creationId xmlns:a16="http://schemas.microsoft.com/office/drawing/2014/main" id="{484ACF99-B7B7-2474-AD3C-874A62148B05}"/>
              </a:ext>
            </a:extLst>
          </p:cNvPr>
          <p:cNvSpPr>
            <a:spLocks noGrp="1"/>
          </p:cNvSpPr>
          <p:nvPr>
            <p:ph type="dt" sz="half" idx="10"/>
          </p:nvPr>
        </p:nvSpPr>
        <p:spPr/>
        <p:txBody>
          <a:bodyPr/>
          <a:lstStyle/>
          <a:p>
            <a:fld id="{DB3C0719-2BCA-4E91-88D9-1129D243BDAD}" type="datetime1">
              <a:rPr lang="en-US" smtClean="0"/>
              <a:t>1/27/2026</a:t>
            </a:fld>
            <a:endParaRPr lang="en-US" dirty="0"/>
          </a:p>
        </p:txBody>
      </p:sp>
      <p:sp>
        <p:nvSpPr>
          <p:cNvPr id="5" name="TextBox 4">
            <a:extLst>
              <a:ext uri="{FF2B5EF4-FFF2-40B4-BE49-F238E27FC236}">
                <a16:creationId xmlns:a16="http://schemas.microsoft.com/office/drawing/2014/main" id="{2D0C3FF3-4558-6E54-2512-AE9DBF4BA8B0}"/>
              </a:ext>
            </a:extLst>
          </p:cNvPr>
          <p:cNvSpPr txBox="1"/>
          <p:nvPr/>
        </p:nvSpPr>
        <p:spPr>
          <a:xfrm>
            <a:off x="243840" y="782320"/>
            <a:ext cx="9906000" cy="49244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Times New Roman"/>
                <a:cs typeface="Times New Roman"/>
              </a:rPr>
              <a:t>User Persona</a:t>
            </a:r>
            <a:endParaRPr lang="en-US" sz="2000" dirty="0">
              <a:latin typeface="Times New Roman"/>
              <a:ea typeface="Calibri"/>
              <a:cs typeface="Times New Roman"/>
            </a:endParaRPr>
          </a:p>
          <a:p>
            <a:pPr marL="285750" indent="-285750">
              <a:buFont typeface="Arial"/>
              <a:buChar char="•"/>
            </a:pPr>
            <a:r>
              <a:rPr lang="en-US" sz="2000" b="1" dirty="0">
                <a:latin typeface="Times New Roman"/>
                <a:ea typeface="+mn-lt"/>
                <a:cs typeface="+mn-lt"/>
              </a:rPr>
              <a:t>User Type:</a:t>
            </a:r>
            <a:r>
              <a:rPr lang="en-US" sz="2000" dirty="0">
                <a:latin typeface="Times New Roman"/>
                <a:ea typeface="+mn-lt"/>
                <a:cs typeface="+mn-lt"/>
              </a:rPr>
              <a:t> Household LPG user / Small commercial kitchen operator</a:t>
            </a:r>
            <a:endParaRPr lang="en-US" sz="2000" dirty="0">
              <a:latin typeface="Times New Roman"/>
              <a:ea typeface="Calibri"/>
              <a:cs typeface="Calibri"/>
            </a:endParaRPr>
          </a:p>
          <a:p>
            <a:pPr marL="285750" indent="-285750">
              <a:buFont typeface="Arial"/>
              <a:buChar char="•"/>
            </a:pPr>
            <a:r>
              <a:rPr lang="en-US" sz="2000" b="1" dirty="0">
                <a:latin typeface="Times New Roman"/>
                <a:ea typeface="+mn-lt"/>
                <a:cs typeface="+mn-lt"/>
              </a:rPr>
              <a:t>Age Group:</a:t>
            </a:r>
            <a:r>
              <a:rPr lang="en-US" sz="2000" dirty="0">
                <a:latin typeface="Times New Roman"/>
                <a:ea typeface="+mn-lt"/>
                <a:cs typeface="+mn-lt"/>
              </a:rPr>
              <a:t> 25–65 years</a:t>
            </a:r>
            <a:endParaRPr lang="en-US" sz="2000" dirty="0">
              <a:latin typeface="Times New Roman"/>
              <a:ea typeface="Calibri"/>
              <a:cs typeface="Calibri"/>
            </a:endParaRPr>
          </a:p>
          <a:p>
            <a:pPr marL="285750" indent="-285750">
              <a:buFont typeface="Arial"/>
              <a:buChar char="•"/>
            </a:pPr>
            <a:r>
              <a:rPr lang="en-US" sz="2000" b="1" dirty="0">
                <a:latin typeface="Times New Roman"/>
                <a:ea typeface="+mn-lt"/>
                <a:cs typeface="+mn-lt"/>
              </a:rPr>
              <a:t>Technical Skill:</a:t>
            </a:r>
            <a:r>
              <a:rPr lang="en-US" sz="2000" dirty="0">
                <a:latin typeface="Times New Roman"/>
                <a:ea typeface="+mn-lt"/>
                <a:cs typeface="+mn-lt"/>
              </a:rPr>
              <a:t> Low to moderate</a:t>
            </a:r>
            <a:endParaRPr lang="en-US" sz="2000" dirty="0">
              <a:latin typeface="Times New Roman"/>
              <a:ea typeface="Calibri"/>
              <a:cs typeface="Calibri"/>
            </a:endParaRPr>
          </a:p>
          <a:p>
            <a:pPr marL="285750" indent="-285750">
              <a:buFont typeface="Arial"/>
              <a:buChar char="•"/>
            </a:pPr>
            <a:r>
              <a:rPr lang="en-US" sz="2000" b="1" dirty="0">
                <a:latin typeface="Times New Roman"/>
                <a:ea typeface="+mn-lt"/>
                <a:cs typeface="+mn-lt"/>
              </a:rPr>
              <a:t>Primary Concerns:</a:t>
            </a:r>
            <a:r>
              <a:rPr lang="en-US" sz="2000" dirty="0">
                <a:latin typeface="Times New Roman"/>
                <a:ea typeface="+mn-lt"/>
                <a:cs typeface="+mn-lt"/>
              </a:rPr>
              <a:t> Family/workplace safety, fire risk, safety during absence</a:t>
            </a:r>
            <a:endParaRPr lang="en-US" sz="2000" dirty="0">
              <a:latin typeface="Times New Roman"/>
              <a:ea typeface="Calibri"/>
              <a:cs typeface="Calibri"/>
            </a:endParaRPr>
          </a:p>
          <a:p>
            <a:pPr marL="285750" indent="-285750">
              <a:buFont typeface="Arial"/>
              <a:buChar char="•"/>
            </a:pPr>
            <a:r>
              <a:rPr lang="en-US" sz="2000" b="1" dirty="0">
                <a:latin typeface="Times New Roman"/>
                <a:ea typeface="+mn-lt"/>
                <a:cs typeface="+mn-lt"/>
              </a:rPr>
              <a:t>Pain Points:</a:t>
            </a:r>
            <a:r>
              <a:rPr lang="en-US" sz="2000" dirty="0">
                <a:latin typeface="Times New Roman"/>
                <a:ea typeface="+mn-lt"/>
                <a:cs typeface="+mn-lt"/>
              </a:rPr>
              <a:t> Panic during gas leakage, fear of approaching cylinder, difficulty in manual valve closure</a:t>
            </a:r>
            <a:endParaRPr lang="en-US" sz="2000" dirty="0">
              <a:latin typeface="Times New Roman"/>
            </a:endParaRPr>
          </a:p>
          <a:p>
            <a:endParaRPr lang="en-US" b="1" dirty="0"/>
          </a:p>
          <a:p>
            <a:r>
              <a:rPr lang="en-US" b="1" dirty="0"/>
              <a:t>Current User Journey (Problem Scenario)</a:t>
            </a:r>
            <a:endParaRPr lang="en-US" dirty="0">
              <a:ea typeface="Calibri"/>
              <a:cs typeface="Calibri"/>
            </a:endParaRPr>
          </a:p>
          <a:p>
            <a:pPr marL="285750" indent="-285750">
              <a:buFont typeface="Arial"/>
              <a:buChar char="•"/>
            </a:pPr>
            <a:r>
              <a:rPr lang="en-US" sz="2000" dirty="0">
                <a:ea typeface="+mn-lt"/>
                <a:cs typeface="+mn-lt"/>
              </a:rPr>
              <a:t>Gas leakage occurs unexpectedly</a:t>
            </a:r>
            <a:endParaRPr lang="en-US" dirty="0"/>
          </a:p>
          <a:p>
            <a:pPr marL="285750" indent="-285750">
              <a:buFont typeface="Arial"/>
              <a:buChar char="•"/>
            </a:pPr>
            <a:r>
              <a:rPr lang="en-US" sz="2000" dirty="0">
                <a:ea typeface="+mn-lt"/>
                <a:cs typeface="+mn-lt"/>
              </a:rPr>
              <a:t>Leakage detected late through smell or alarm</a:t>
            </a:r>
            <a:endParaRPr lang="en-US" dirty="0"/>
          </a:p>
          <a:p>
            <a:pPr marL="285750" indent="-285750">
              <a:buFont typeface="Arial"/>
              <a:buChar char="•"/>
            </a:pPr>
            <a:r>
              <a:rPr lang="en-US" sz="2000" dirty="0">
                <a:ea typeface="+mn-lt"/>
                <a:cs typeface="+mn-lt"/>
              </a:rPr>
              <a:t>User panics or hesitates</a:t>
            </a:r>
            <a:endParaRPr lang="en-US" dirty="0"/>
          </a:p>
          <a:p>
            <a:pPr marL="285750" indent="-285750">
              <a:buFont typeface="Arial"/>
              <a:buChar char="•"/>
            </a:pPr>
            <a:r>
              <a:rPr lang="en-US" sz="2000" dirty="0">
                <a:ea typeface="+mn-lt"/>
                <a:cs typeface="+mn-lt"/>
              </a:rPr>
              <a:t>Manual valve shut-off is delayed or not performed</a:t>
            </a:r>
            <a:endParaRPr lang="en-US" dirty="0"/>
          </a:p>
          <a:p>
            <a:pPr marL="285750" indent="-285750">
              <a:buFont typeface="Arial"/>
              <a:buChar char="•"/>
            </a:pPr>
            <a:r>
              <a:rPr lang="en-US" sz="2000" dirty="0">
                <a:ea typeface="+mn-lt"/>
                <a:cs typeface="+mn-lt"/>
              </a:rPr>
              <a:t>Gas accumulates, increasing accident risk</a:t>
            </a:r>
            <a:endParaRPr lang="en-US" dirty="0"/>
          </a:p>
          <a:p>
            <a:pPr algn="l"/>
            <a:endParaRPr lang="en-US" sz="2000" dirty="0">
              <a:latin typeface="Times New Roman"/>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2668350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94EC0-3D34-8851-660E-327EC58AA55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B81C67-50BE-E734-48FE-698250B2774E}"/>
              </a:ext>
            </a:extLst>
          </p:cNvPr>
          <p:cNvSpPr>
            <a:spLocks noGrp="1"/>
          </p:cNvSpPr>
          <p:nvPr>
            <p:ph type="sldNum" sz="quarter" idx="12"/>
          </p:nvPr>
        </p:nvSpPr>
        <p:spPr/>
        <p:txBody>
          <a:bodyPr/>
          <a:lstStyle/>
          <a:p>
            <a:fld id="{2A90EE39-82A8-4ECD-9F2F-122B8BC51252}" type="slidenum">
              <a:rPr lang="en-US" smtClean="0"/>
              <a:t>12</a:t>
            </a:fld>
            <a:endParaRPr lang="en-US" dirty="0"/>
          </a:p>
        </p:txBody>
      </p:sp>
      <p:sp>
        <p:nvSpPr>
          <p:cNvPr id="6" name="Title 1">
            <a:extLst>
              <a:ext uri="{FF2B5EF4-FFF2-40B4-BE49-F238E27FC236}">
                <a16:creationId xmlns:a16="http://schemas.microsoft.com/office/drawing/2014/main" id="{1E7B1008-C6B1-E32C-ABE9-2A92A665233D}"/>
              </a:ext>
            </a:extLst>
          </p:cNvPr>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ambria" panose="02040503050406030204" pitchFamily="18" charset="0"/>
                <a:ea typeface="Cambria" panose="02040503050406030204" pitchFamily="18" charset="0"/>
              </a:rPr>
              <a:t>3. IDEATE - </a:t>
            </a:r>
            <a:r>
              <a:rPr lang="en-IN" sz="3200" b="1" dirty="0">
                <a:latin typeface="Cambria" panose="02040503050406030204" pitchFamily="18" charset="0"/>
                <a:ea typeface="Cambria" panose="02040503050406030204" pitchFamily="18" charset="0"/>
              </a:rPr>
              <a:t>Ideation &amp; Concept Generation </a:t>
            </a:r>
            <a:r>
              <a:rPr lang="en-US" sz="3200" b="1" dirty="0">
                <a:latin typeface="Cambria" panose="02040503050406030204" pitchFamily="18" charset="0"/>
                <a:ea typeface="Cambria" panose="02040503050406030204" pitchFamily="18" charset="0"/>
              </a:rPr>
              <a:t> </a:t>
            </a:r>
          </a:p>
        </p:txBody>
      </p:sp>
      <p:sp>
        <p:nvSpPr>
          <p:cNvPr id="2" name="TextBox 1">
            <a:extLst>
              <a:ext uri="{FF2B5EF4-FFF2-40B4-BE49-F238E27FC236}">
                <a16:creationId xmlns:a16="http://schemas.microsoft.com/office/drawing/2014/main" id="{CB6D3136-D7B4-03B0-9FF0-882095B0C994}"/>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3" name="Date Placeholder 2">
            <a:extLst>
              <a:ext uri="{FF2B5EF4-FFF2-40B4-BE49-F238E27FC236}">
                <a16:creationId xmlns:a16="http://schemas.microsoft.com/office/drawing/2014/main" id="{22298D6C-386D-BE2A-4367-B5F7F1172E10}"/>
              </a:ext>
            </a:extLst>
          </p:cNvPr>
          <p:cNvSpPr>
            <a:spLocks noGrp="1"/>
          </p:cNvSpPr>
          <p:nvPr>
            <p:ph type="dt" sz="half" idx="10"/>
          </p:nvPr>
        </p:nvSpPr>
        <p:spPr/>
        <p:txBody>
          <a:bodyPr/>
          <a:lstStyle/>
          <a:p>
            <a:fld id="{DF538592-555D-4D4A-B79D-4BF3897ACFEB}" type="datetime1">
              <a:rPr lang="en-US" smtClean="0"/>
              <a:t>1/27/2026</a:t>
            </a:fld>
            <a:endParaRPr lang="en-US" dirty="0"/>
          </a:p>
        </p:txBody>
      </p:sp>
    </p:spTree>
    <p:extLst>
      <p:ext uri="{BB962C8B-B14F-4D97-AF65-F5344CB8AC3E}">
        <p14:creationId xmlns:p14="http://schemas.microsoft.com/office/powerpoint/2010/main" val="3103372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A45FF-4BFD-5013-CE85-CF4037355E2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E8BCCC4-AB4D-A61C-AFEC-43A82D573721}"/>
              </a:ext>
            </a:extLst>
          </p:cNvPr>
          <p:cNvSpPr>
            <a:spLocks noGrp="1"/>
          </p:cNvSpPr>
          <p:nvPr>
            <p:ph type="sldNum" sz="quarter" idx="12"/>
          </p:nvPr>
        </p:nvSpPr>
        <p:spPr/>
        <p:txBody>
          <a:bodyPr/>
          <a:lstStyle/>
          <a:p>
            <a:fld id="{2A90EE39-82A8-4ECD-9F2F-122B8BC51252}" type="slidenum">
              <a:rPr lang="en-US" smtClean="0"/>
              <a:t>13</a:t>
            </a:fld>
            <a:endParaRPr lang="en-US" dirty="0"/>
          </a:p>
        </p:txBody>
      </p:sp>
      <p:sp>
        <p:nvSpPr>
          <p:cNvPr id="6" name="Title 1">
            <a:extLst>
              <a:ext uri="{FF2B5EF4-FFF2-40B4-BE49-F238E27FC236}">
                <a16:creationId xmlns:a16="http://schemas.microsoft.com/office/drawing/2014/main" id="{F9DC3C9A-5661-6221-3DC1-532C5B2CFE7D}"/>
              </a:ext>
            </a:extLst>
          </p:cNvPr>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ambria" panose="02040503050406030204" pitchFamily="18" charset="0"/>
                <a:ea typeface="Cambria" panose="02040503050406030204" pitchFamily="18" charset="0"/>
              </a:rPr>
              <a:t>3. IDEATE - </a:t>
            </a:r>
            <a:r>
              <a:rPr lang="en-IN" sz="3200" b="1" dirty="0">
                <a:latin typeface="Cambria" panose="02040503050406030204" pitchFamily="18" charset="0"/>
                <a:ea typeface="Cambria" panose="02040503050406030204" pitchFamily="18" charset="0"/>
              </a:rPr>
              <a:t>Concept Selection</a:t>
            </a:r>
            <a:endParaRPr lang="en-US" sz="3200" b="1"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7675A618-839B-60BF-46FD-A48192247E3B}"/>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3" name="Date Placeholder 2">
            <a:extLst>
              <a:ext uri="{FF2B5EF4-FFF2-40B4-BE49-F238E27FC236}">
                <a16:creationId xmlns:a16="http://schemas.microsoft.com/office/drawing/2014/main" id="{F7EADFE0-6814-CE63-36D1-ECD5A95DD290}"/>
              </a:ext>
            </a:extLst>
          </p:cNvPr>
          <p:cNvSpPr>
            <a:spLocks noGrp="1"/>
          </p:cNvSpPr>
          <p:nvPr>
            <p:ph type="dt" sz="half" idx="10"/>
          </p:nvPr>
        </p:nvSpPr>
        <p:spPr/>
        <p:txBody>
          <a:bodyPr/>
          <a:lstStyle/>
          <a:p>
            <a:fld id="{22CCAD55-24F4-4AA6-9009-118BF9F9360C}" type="datetime1">
              <a:rPr lang="en-US" smtClean="0"/>
              <a:t>1/27/2026</a:t>
            </a:fld>
            <a:endParaRPr lang="en-US" dirty="0"/>
          </a:p>
        </p:txBody>
      </p:sp>
    </p:spTree>
    <p:extLst>
      <p:ext uri="{BB962C8B-B14F-4D97-AF65-F5344CB8AC3E}">
        <p14:creationId xmlns:p14="http://schemas.microsoft.com/office/powerpoint/2010/main" val="1890505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F0685-48C8-C738-A627-907C516CC80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C85836-F41E-1B6F-0098-EE261C933D86}"/>
              </a:ext>
            </a:extLst>
          </p:cNvPr>
          <p:cNvSpPr>
            <a:spLocks noGrp="1"/>
          </p:cNvSpPr>
          <p:nvPr>
            <p:ph type="sldNum" sz="quarter" idx="12"/>
          </p:nvPr>
        </p:nvSpPr>
        <p:spPr/>
        <p:txBody>
          <a:bodyPr/>
          <a:lstStyle/>
          <a:p>
            <a:fld id="{2A90EE39-82A8-4ECD-9F2F-122B8BC51252}" type="slidenum">
              <a:rPr lang="en-US" smtClean="0"/>
              <a:t>14</a:t>
            </a:fld>
            <a:endParaRPr lang="en-US" dirty="0"/>
          </a:p>
        </p:txBody>
      </p:sp>
      <p:sp>
        <p:nvSpPr>
          <p:cNvPr id="6" name="Title 1">
            <a:extLst>
              <a:ext uri="{FF2B5EF4-FFF2-40B4-BE49-F238E27FC236}">
                <a16:creationId xmlns:a16="http://schemas.microsoft.com/office/drawing/2014/main" id="{899FD52F-7D2C-C6E8-994D-5DB1454AA06F}"/>
              </a:ext>
            </a:extLst>
          </p:cNvPr>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ambria" panose="02040503050406030204" pitchFamily="18" charset="0"/>
                <a:ea typeface="Cambria" panose="02040503050406030204" pitchFamily="18" charset="0"/>
              </a:rPr>
              <a:t>4. PROTOTYPE</a:t>
            </a:r>
          </a:p>
        </p:txBody>
      </p:sp>
      <p:sp>
        <p:nvSpPr>
          <p:cNvPr id="2" name="TextBox 1">
            <a:extLst>
              <a:ext uri="{FF2B5EF4-FFF2-40B4-BE49-F238E27FC236}">
                <a16:creationId xmlns:a16="http://schemas.microsoft.com/office/drawing/2014/main" id="{E148E103-8033-6DD3-5086-18E3F589D282}"/>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3" name="Date Placeholder 2">
            <a:extLst>
              <a:ext uri="{FF2B5EF4-FFF2-40B4-BE49-F238E27FC236}">
                <a16:creationId xmlns:a16="http://schemas.microsoft.com/office/drawing/2014/main" id="{C72747D3-D4B5-2CA6-BFFE-F87618DBC2B0}"/>
              </a:ext>
            </a:extLst>
          </p:cNvPr>
          <p:cNvSpPr>
            <a:spLocks noGrp="1"/>
          </p:cNvSpPr>
          <p:nvPr>
            <p:ph type="dt" sz="half" idx="10"/>
          </p:nvPr>
        </p:nvSpPr>
        <p:spPr/>
        <p:txBody>
          <a:bodyPr/>
          <a:lstStyle/>
          <a:p>
            <a:fld id="{0ACA8DF4-659F-40B2-9609-F0C1224800E0}" type="datetime1">
              <a:rPr lang="en-US" smtClean="0"/>
              <a:t>1/27/2026</a:t>
            </a:fld>
            <a:endParaRPr lang="en-US" dirty="0"/>
          </a:p>
        </p:txBody>
      </p:sp>
    </p:spTree>
    <p:extLst>
      <p:ext uri="{BB962C8B-B14F-4D97-AF65-F5344CB8AC3E}">
        <p14:creationId xmlns:p14="http://schemas.microsoft.com/office/powerpoint/2010/main" val="3291568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EE748-851D-BD5A-BB93-05F99176103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FB82D9-D254-F911-F9A0-1A8B2FE058F6}"/>
              </a:ext>
            </a:extLst>
          </p:cNvPr>
          <p:cNvSpPr>
            <a:spLocks noGrp="1"/>
          </p:cNvSpPr>
          <p:nvPr>
            <p:ph type="sldNum" sz="quarter" idx="12"/>
          </p:nvPr>
        </p:nvSpPr>
        <p:spPr/>
        <p:txBody>
          <a:bodyPr/>
          <a:lstStyle/>
          <a:p>
            <a:fld id="{2A90EE39-82A8-4ECD-9F2F-122B8BC51252}" type="slidenum">
              <a:rPr lang="en-US" smtClean="0"/>
              <a:t>15</a:t>
            </a:fld>
            <a:endParaRPr lang="en-US" dirty="0"/>
          </a:p>
        </p:txBody>
      </p:sp>
      <p:sp>
        <p:nvSpPr>
          <p:cNvPr id="6" name="Title 1">
            <a:extLst>
              <a:ext uri="{FF2B5EF4-FFF2-40B4-BE49-F238E27FC236}">
                <a16:creationId xmlns:a16="http://schemas.microsoft.com/office/drawing/2014/main" id="{4A2221AB-8661-B16B-C535-9C5C1BBA9838}"/>
              </a:ext>
            </a:extLst>
          </p:cNvPr>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ambria" panose="02040503050406030204" pitchFamily="18" charset="0"/>
                <a:ea typeface="Cambria" panose="02040503050406030204" pitchFamily="18" charset="0"/>
              </a:rPr>
              <a:t>4. PROTOTYPE - </a:t>
            </a:r>
            <a:r>
              <a:rPr lang="en-IN" sz="3200" dirty="0"/>
              <a:t>Methodology / Workflow Chart </a:t>
            </a:r>
            <a:endParaRPr lang="en-US" sz="3200" b="1"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BDCE0F63-8777-BBB4-0C07-4168C29F7448}"/>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3" name="Date Placeholder 2">
            <a:extLst>
              <a:ext uri="{FF2B5EF4-FFF2-40B4-BE49-F238E27FC236}">
                <a16:creationId xmlns:a16="http://schemas.microsoft.com/office/drawing/2014/main" id="{12F626E0-7F56-D48C-FADE-7832A30E1CF6}"/>
              </a:ext>
            </a:extLst>
          </p:cNvPr>
          <p:cNvSpPr>
            <a:spLocks noGrp="1"/>
          </p:cNvSpPr>
          <p:nvPr>
            <p:ph type="dt" sz="half" idx="10"/>
          </p:nvPr>
        </p:nvSpPr>
        <p:spPr/>
        <p:txBody>
          <a:bodyPr/>
          <a:lstStyle/>
          <a:p>
            <a:fld id="{E9AB1DCD-0632-46F3-B287-524A43426BFE}" type="datetime1">
              <a:rPr lang="en-US" smtClean="0"/>
              <a:t>1/27/2026</a:t>
            </a:fld>
            <a:endParaRPr lang="en-US" dirty="0"/>
          </a:p>
        </p:txBody>
      </p:sp>
    </p:spTree>
    <p:extLst>
      <p:ext uri="{BB962C8B-B14F-4D97-AF65-F5344CB8AC3E}">
        <p14:creationId xmlns:p14="http://schemas.microsoft.com/office/powerpoint/2010/main" val="3098274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E9D92-7B19-B102-D459-01DC48755BB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B12F82C-C783-37DC-CD93-659FD3CFC421}"/>
              </a:ext>
            </a:extLst>
          </p:cNvPr>
          <p:cNvSpPr>
            <a:spLocks noGrp="1"/>
          </p:cNvSpPr>
          <p:nvPr>
            <p:ph type="sldNum" sz="quarter" idx="12"/>
          </p:nvPr>
        </p:nvSpPr>
        <p:spPr/>
        <p:txBody>
          <a:bodyPr/>
          <a:lstStyle/>
          <a:p>
            <a:fld id="{2A90EE39-82A8-4ECD-9F2F-122B8BC51252}" type="slidenum">
              <a:rPr lang="en-US" smtClean="0"/>
              <a:t>16</a:t>
            </a:fld>
            <a:endParaRPr lang="en-US" dirty="0"/>
          </a:p>
        </p:txBody>
      </p:sp>
      <p:sp>
        <p:nvSpPr>
          <p:cNvPr id="6" name="Title 1">
            <a:extLst>
              <a:ext uri="{FF2B5EF4-FFF2-40B4-BE49-F238E27FC236}">
                <a16:creationId xmlns:a16="http://schemas.microsoft.com/office/drawing/2014/main" id="{A155E5BA-3E3E-9810-5EAF-4F974DE18A61}"/>
              </a:ext>
            </a:extLst>
          </p:cNvPr>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ambria" panose="02040503050406030204" pitchFamily="18" charset="0"/>
                <a:ea typeface="Cambria" panose="02040503050406030204" pitchFamily="18" charset="0"/>
              </a:rPr>
              <a:t>4. PROTOTYPE - </a:t>
            </a:r>
            <a:r>
              <a:rPr lang="en-IN" sz="3200" dirty="0"/>
              <a:t>Modelling</a:t>
            </a:r>
            <a:endParaRPr lang="en-US" sz="3200" b="1"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2F60DBBE-D48E-9953-CB82-D96BCEA8FF3E}"/>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3" name="Date Placeholder 2">
            <a:extLst>
              <a:ext uri="{FF2B5EF4-FFF2-40B4-BE49-F238E27FC236}">
                <a16:creationId xmlns:a16="http://schemas.microsoft.com/office/drawing/2014/main" id="{B7ACCC2D-B8DA-D3A5-9648-6F0B5D4511CE}"/>
              </a:ext>
            </a:extLst>
          </p:cNvPr>
          <p:cNvSpPr>
            <a:spLocks noGrp="1"/>
          </p:cNvSpPr>
          <p:nvPr>
            <p:ph type="dt" sz="half" idx="10"/>
          </p:nvPr>
        </p:nvSpPr>
        <p:spPr/>
        <p:txBody>
          <a:bodyPr/>
          <a:lstStyle/>
          <a:p>
            <a:fld id="{81755FAF-6AC7-4326-95BA-5E73890C8B36}" type="datetime1">
              <a:rPr lang="en-US" smtClean="0"/>
              <a:t>1/27/2026</a:t>
            </a:fld>
            <a:endParaRPr lang="en-US" dirty="0"/>
          </a:p>
        </p:txBody>
      </p:sp>
    </p:spTree>
    <p:extLst>
      <p:ext uri="{BB962C8B-B14F-4D97-AF65-F5344CB8AC3E}">
        <p14:creationId xmlns:p14="http://schemas.microsoft.com/office/powerpoint/2010/main" val="164244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53398-6DC2-ACB4-8CEC-F2032F71AA7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D40443-5734-33CC-DAAE-DEE4E2FE29DC}"/>
              </a:ext>
            </a:extLst>
          </p:cNvPr>
          <p:cNvSpPr>
            <a:spLocks noGrp="1"/>
          </p:cNvSpPr>
          <p:nvPr>
            <p:ph type="sldNum" sz="quarter" idx="12"/>
          </p:nvPr>
        </p:nvSpPr>
        <p:spPr/>
        <p:txBody>
          <a:bodyPr/>
          <a:lstStyle/>
          <a:p>
            <a:fld id="{2A90EE39-82A8-4ECD-9F2F-122B8BC51252}" type="slidenum">
              <a:rPr lang="en-US" smtClean="0"/>
              <a:t>17</a:t>
            </a:fld>
            <a:endParaRPr lang="en-US" dirty="0"/>
          </a:p>
        </p:txBody>
      </p:sp>
      <p:sp>
        <p:nvSpPr>
          <p:cNvPr id="6" name="Title 1">
            <a:extLst>
              <a:ext uri="{FF2B5EF4-FFF2-40B4-BE49-F238E27FC236}">
                <a16:creationId xmlns:a16="http://schemas.microsoft.com/office/drawing/2014/main" id="{6150D94C-541F-02F2-15B6-25E5871885B5}"/>
              </a:ext>
            </a:extLst>
          </p:cNvPr>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ambria" panose="02040503050406030204" pitchFamily="18" charset="0"/>
                <a:ea typeface="Cambria" panose="02040503050406030204" pitchFamily="18" charset="0"/>
              </a:rPr>
              <a:t>4. PROTOTYPE - Design</a:t>
            </a:r>
          </a:p>
        </p:txBody>
      </p:sp>
      <p:sp>
        <p:nvSpPr>
          <p:cNvPr id="2" name="TextBox 1">
            <a:extLst>
              <a:ext uri="{FF2B5EF4-FFF2-40B4-BE49-F238E27FC236}">
                <a16:creationId xmlns:a16="http://schemas.microsoft.com/office/drawing/2014/main" id="{B0C44618-2C64-3D4E-2BFD-4C1AC200F207}"/>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3" name="Date Placeholder 2">
            <a:extLst>
              <a:ext uri="{FF2B5EF4-FFF2-40B4-BE49-F238E27FC236}">
                <a16:creationId xmlns:a16="http://schemas.microsoft.com/office/drawing/2014/main" id="{EF3B134B-FDE4-EE5C-B513-C4960F90064B}"/>
              </a:ext>
            </a:extLst>
          </p:cNvPr>
          <p:cNvSpPr>
            <a:spLocks noGrp="1"/>
          </p:cNvSpPr>
          <p:nvPr>
            <p:ph type="dt" sz="half" idx="10"/>
          </p:nvPr>
        </p:nvSpPr>
        <p:spPr/>
        <p:txBody>
          <a:bodyPr/>
          <a:lstStyle/>
          <a:p>
            <a:fld id="{C7DA2FC2-96A1-41EC-A15F-2C39B5E8FE71}" type="datetime1">
              <a:rPr lang="en-US" smtClean="0"/>
              <a:t>1/27/2026</a:t>
            </a:fld>
            <a:endParaRPr lang="en-US" dirty="0"/>
          </a:p>
        </p:txBody>
      </p:sp>
    </p:spTree>
    <p:extLst>
      <p:ext uri="{BB962C8B-B14F-4D97-AF65-F5344CB8AC3E}">
        <p14:creationId xmlns:p14="http://schemas.microsoft.com/office/powerpoint/2010/main" val="2434615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5D551-29CB-AD5B-80D0-E2C8F5D431B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738C83-2353-1236-307E-A2FFB6534864}"/>
              </a:ext>
            </a:extLst>
          </p:cNvPr>
          <p:cNvSpPr>
            <a:spLocks noGrp="1"/>
          </p:cNvSpPr>
          <p:nvPr>
            <p:ph type="sldNum" sz="quarter" idx="12"/>
          </p:nvPr>
        </p:nvSpPr>
        <p:spPr/>
        <p:txBody>
          <a:bodyPr/>
          <a:lstStyle/>
          <a:p>
            <a:fld id="{2A90EE39-82A8-4ECD-9F2F-122B8BC51252}" type="slidenum">
              <a:rPr lang="en-US" smtClean="0"/>
              <a:t>18</a:t>
            </a:fld>
            <a:endParaRPr lang="en-US" dirty="0"/>
          </a:p>
        </p:txBody>
      </p:sp>
      <p:sp>
        <p:nvSpPr>
          <p:cNvPr id="6" name="Title 1">
            <a:extLst>
              <a:ext uri="{FF2B5EF4-FFF2-40B4-BE49-F238E27FC236}">
                <a16:creationId xmlns:a16="http://schemas.microsoft.com/office/drawing/2014/main" id="{41418BB6-172D-86D3-850C-DCE648FBA434}"/>
              </a:ext>
            </a:extLst>
          </p:cNvPr>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ambria" panose="02040503050406030204" pitchFamily="18" charset="0"/>
                <a:ea typeface="Cambria" panose="02040503050406030204" pitchFamily="18" charset="0"/>
              </a:rPr>
              <a:t>4. PROTOTYPE – Materials, Parts &amp; Process Selection</a:t>
            </a:r>
          </a:p>
        </p:txBody>
      </p:sp>
      <p:sp>
        <p:nvSpPr>
          <p:cNvPr id="2" name="TextBox 1">
            <a:extLst>
              <a:ext uri="{FF2B5EF4-FFF2-40B4-BE49-F238E27FC236}">
                <a16:creationId xmlns:a16="http://schemas.microsoft.com/office/drawing/2014/main" id="{0349CB85-66D1-706C-C29A-B597E55D84DB}"/>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3" name="Date Placeholder 2">
            <a:extLst>
              <a:ext uri="{FF2B5EF4-FFF2-40B4-BE49-F238E27FC236}">
                <a16:creationId xmlns:a16="http://schemas.microsoft.com/office/drawing/2014/main" id="{F7D90EBE-AE83-005F-B1AE-4C0CFD304ECE}"/>
              </a:ext>
            </a:extLst>
          </p:cNvPr>
          <p:cNvSpPr>
            <a:spLocks noGrp="1"/>
          </p:cNvSpPr>
          <p:nvPr>
            <p:ph type="dt" sz="half" idx="10"/>
          </p:nvPr>
        </p:nvSpPr>
        <p:spPr/>
        <p:txBody>
          <a:bodyPr/>
          <a:lstStyle/>
          <a:p>
            <a:fld id="{F96F7721-F260-4BF3-8B57-CD2A9206DAEB}" type="datetime1">
              <a:rPr lang="en-US" smtClean="0"/>
              <a:t>1/27/2026</a:t>
            </a:fld>
            <a:endParaRPr lang="en-US" dirty="0"/>
          </a:p>
        </p:txBody>
      </p:sp>
    </p:spTree>
    <p:extLst>
      <p:ext uri="{BB962C8B-B14F-4D97-AF65-F5344CB8AC3E}">
        <p14:creationId xmlns:p14="http://schemas.microsoft.com/office/powerpoint/2010/main" val="220018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90EE39-82A8-4ECD-9F2F-122B8BC51252}" type="slidenum">
              <a:rPr lang="en-US" smtClean="0"/>
              <a:t>19</a:t>
            </a:fld>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196025714"/>
              </p:ext>
            </p:extLst>
          </p:nvPr>
        </p:nvGraphicFramePr>
        <p:xfrm>
          <a:off x="1501842" y="768484"/>
          <a:ext cx="7788074" cy="5488491"/>
        </p:xfrm>
        <a:graphic>
          <a:graphicData uri="http://schemas.openxmlformats.org/drawingml/2006/table">
            <a:tbl>
              <a:tblPr firstRow="1" bandRow="1">
                <a:tableStyleId>{5C22544A-7EE6-4342-B048-85BDC9FD1C3A}</a:tableStyleId>
              </a:tblPr>
              <a:tblGrid>
                <a:gridCol w="2669677">
                  <a:extLst>
                    <a:ext uri="{9D8B030D-6E8A-4147-A177-3AD203B41FA5}">
                      <a16:colId xmlns:a16="http://schemas.microsoft.com/office/drawing/2014/main" val="20000"/>
                    </a:ext>
                  </a:extLst>
                </a:gridCol>
                <a:gridCol w="2669677">
                  <a:extLst>
                    <a:ext uri="{9D8B030D-6E8A-4147-A177-3AD203B41FA5}">
                      <a16:colId xmlns:a16="http://schemas.microsoft.com/office/drawing/2014/main" val="1850954603"/>
                    </a:ext>
                  </a:extLst>
                </a:gridCol>
                <a:gridCol w="2448720">
                  <a:extLst>
                    <a:ext uri="{9D8B030D-6E8A-4147-A177-3AD203B41FA5}">
                      <a16:colId xmlns:a16="http://schemas.microsoft.com/office/drawing/2014/main" val="20001"/>
                    </a:ext>
                  </a:extLst>
                </a:gridCol>
              </a:tblGrid>
              <a:tr h="451624">
                <a:tc>
                  <a:txBody>
                    <a:bodyPr/>
                    <a:lstStyle/>
                    <a:p>
                      <a:r>
                        <a:rPr lang="en-IN" dirty="0"/>
                        <a:t>COMPONENT</a:t>
                      </a:r>
                    </a:p>
                  </a:txBody>
                  <a:tcPr/>
                </a:tc>
                <a:tc>
                  <a:txBody>
                    <a:bodyPr/>
                    <a:lstStyle/>
                    <a:p>
                      <a:r>
                        <a:rPr lang="en-IN" dirty="0"/>
                        <a:t>Specification </a:t>
                      </a:r>
                    </a:p>
                  </a:txBody>
                  <a:tcPr/>
                </a:tc>
                <a:tc>
                  <a:txBody>
                    <a:bodyPr/>
                    <a:lstStyle/>
                    <a:p>
                      <a:r>
                        <a:rPr lang="en-IN" dirty="0"/>
                        <a:t>QUANTITY</a:t>
                      </a:r>
                    </a:p>
                  </a:txBody>
                  <a:tcPr/>
                </a:tc>
                <a:extLst>
                  <a:ext uri="{0D108BD9-81ED-4DB2-BD59-A6C34878D82A}">
                    <a16:rowId xmlns:a16="http://schemas.microsoft.com/office/drawing/2014/main" val="10000"/>
                  </a:ext>
                </a:extLst>
              </a:tr>
              <a:tr h="457897">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1"/>
                  </a:ext>
                </a:extLst>
              </a:tr>
              <a:tr h="457897">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2"/>
                  </a:ext>
                </a:extLst>
              </a:tr>
              <a:tr h="457897">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3"/>
                  </a:ext>
                </a:extLst>
              </a:tr>
              <a:tr h="457897">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4"/>
                  </a:ext>
                </a:extLst>
              </a:tr>
              <a:tr h="457897">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821524375"/>
                  </a:ext>
                </a:extLst>
              </a:tr>
              <a:tr h="457897">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368393264"/>
                  </a:ext>
                </a:extLst>
              </a:tr>
              <a:tr h="457897">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601478054"/>
                  </a:ext>
                </a:extLst>
              </a:tr>
              <a:tr h="457897">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151331634"/>
                  </a:ext>
                </a:extLst>
              </a:tr>
              <a:tr h="457897">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109469411"/>
                  </a:ext>
                </a:extLst>
              </a:tr>
              <a:tr h="457897">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576052828"/>
                  </a:ext>
                </a:extLst>
              </a:tr>
              <a:tr h="457897">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511824740"/>
                  </a:ext>
                </a:extLst>
              </a:tr>
            </a:tbl>
          </a:graphicData>
        </a:graphic>
      </p:graphicFrame>
      <p:sp>
        <p:nvSpPr>
          <p:cNvPr id="8" name="TextBox 7">
            <a:extLst>
              <a:ext uri="{FF2B5EF4-FFF2-40B4-BE49-F238E27FC236}">
                <a16:creationId xmlns:a16="http://schemas.microsoft.com/office/drawing/2014/main" id="{FEA4FE65-2DAC-C639-863D-AB3AC09B1FEF}"/>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3" name="Title 1">
            <a:extLst>
              <a:ext uri="{FF2B5EF4-FFF2-40B4-BE49-F238E27FC236}">
                <a16:creationId xmlns:a16="http://schemas.microsoft.com/office/drawing/2014/main" id="{38344D13-3AC3-385F-8B12-4BCA6F54C90B}"/>
              </a:ext>
            </a:extLst>
          </p:cNvPr>
          <p:cNvSpPr txBox="1">
            <a:spLocks/>
          </p:cNvSpPr>
          <p:nvPr/>
        </p:nvSpPr>
        <p:spPr>
          <a:xfrm>
            <a:off x="0" y="0"/>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ambria" panose="02040503050406030204" pitchFamily="18" charset="0"/>
                <a:ea typeface="Cambria" panose="02040503050406030204" pitchFamily="18" charset="0"/>
              </a:rPr>
              <a:t>4. PROTOTYPE - BoM</a:t>
            </a:r>
          </a:p>
        </p:txBody>
      </p:sp>
      <p:sp>
        <p:nvSpPr>
          <p:cNvPr id="6" name="Date Placeholder 5">
            <a:extLst>
              <a:ext uri="{FF2B5EF4-FFF2-40B4-BE49-F238E27FC236}">
                <a16:creationId xmlns:a16="http://schemas.microsoft.com/office/drawing/2014/main" id="{41274370-7941-C7F0-2B03-12FFCA9F2333}"/>
              </a:ext>
            </a:extLst>
          </p:cNvPr>
          <p:cNvSpPr>
            <a:spLocks noGrp="1"/>
          </p:cNvSpPr>
          <p:nvPr>
            <p:ph type="dt" sz="half" idx="10"/>
          </p:nvPr>
        </p:nvSpPr>
        <p:spPr/>
        <p:txBody>
          <a:bodyPr/>
          <a:lstStyle/>
          <a:p>
            <a:fld id="{20F89D86-DC00-4B47-975F-8139BA988D1D}" type="datetime1">
              <a:rPr lang="en-US" smtClean="0"/>
              <a:t>1/27/2026</a:t>
            </a:fld>
            <a:endParaRPr lang="en-US" dirty="0"/>
          </a:p>
        </p:txBody>
      </p:sp>
    </p:spTree>
    <p:extLst>
      <p:ext uri="{BB962C8B-B14F-4D97-AF65-F5344CB8AC3E}">
        <p14:creationId xmlns:p14="http://schemas.microsoft.com/office/powerpoint/2010/main" val="4291361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78E7A-D22E-156B-062E-1D537C90FF1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C93C97B-F0FB-1E30-AF74-FBCF0F0272BA}"/>
              </a:ext>
            </a:extLst>
          </p:cNvPr>
          <p:cNvSpPr>
            <a:spLocks noGrp="1"/>
          </p:cNvSpPr>
          <p:nvPr>
            <p:ph type="sldNum" sz="quarter" idx="12"/>
          </p:nvPr>
        </p:nvSpPr>
        <p:spPr/>
        <p:txBody>
          <a:bodyPr/>
          <a:lstStyle/>
          <a:p>
            <a:fld id="{2A90EE39-82A8-4ECD-9F2F-122B8BC51252}" type="slidenum">
              <a:rPr lang="en-US" smtClean="0"/>
              <a:t>20</a:t>
            </a:fld>
            <a:endParaRPr lang="en-US" dirty="0"/>
          </a:p>
        </p:txBody>
      </p:sp>
      <p:sp>
        <p:nvSpPr>
          <p:cNvPr id="6" name="Title 1">
            <a:extLst>
              <a:ext uri="{FF2B5EF4-FFF2-40B4-BE49-F238E27FC236}">
                <a16:creationId xmlns:a16="http://schemas.microsoft.com/office/drawing/2014/main" id="{93529718-F785-E46F-7933-CBE717F543BF}"/>
              </a:ext>
            </a:extLst>
          </p:cNvPr>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ambria" panose="02040503050406030204" pitchFamily="18" charset="0"/>
                <a:ea typeface="Cambria" panose="02040503050406030204" pitchFamily="18" charset="0"/>
              </a:rPr>
              <a:t>4. PROTOTYPE – </a:t>
            </a:r>
            <a:r>
              <a:rPr lang="en-IN" sz="3200" dirty="0"/>
              <a:t>Fabrication / Implementation</a:t>
            </a:r>
            <a:r>
              <a:rPr lang="en-US" sz="3200" b="1" dirty="0"/>
              <a:t> </a:t>
            </a:r>
            <a:endParaRPr lang="en-US" sz="3200" b="1"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EE228DE1-86B6-3FB1-BC5B-31D74F92AA13}"/>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3" name="Date Placeholder 2">
            <a:extLst>
              <a:ext uri="{FF2B5EF4-FFF2-40B4-BE49-F238E27FC236}">
                <a16:creationId xmlns:a16="http://schemas.microsoft.com/office/drawing/2014/main" id="{5008DA0E-26C7-8E53-B3E5-A21710A62323}"/>
              </a:ext>
            </a:extLst>
          </p:cNvPr>
          <p:cNvSpPr>
            <a:spLocks noGrp="1"/>
          </p:cNvSpPr>
          <p:nvPr>
            <p:ph type="dt" sz="half" idx="10"/>
          </p:nvPr>
        </p:nvSpPr>
        <p:spPr/>
        <p:txBody>
          <a:bodyPr/>
          <a:lstStyle/>
          <a:p>
            <a:fld id="{46D34B87-7F0D-4BF2-BDEB-638809B86BCA}" type="datetime1">
              <a:rPr lang="en-US" smtClean="0"/>
              <a:t>1/27/2026</a:t>
            </a:fld>
            <a:endParaRPr lang="en-US" dirty="0"/>
          </a:p>
        </p:txBody>
      </p:sp>
    </p:spTree>
    <p:extLst>
      <p:ext uri="{BB962C8B-B14F-4D97-AF65-F5344CB8AC3E}">
        <p14:creationId xmlns:p14="http://schemas.microsoft.com/office/powerpoint/2010/main" val="42410468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662B6-C347-B73A-7042-1671EC296FD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BA3C39-53D6-94F3-D3A4-A7280FC98C55}"/>
              </a:ext>
            </a:extLst>
          </p:cNvPr>
          <p:cNvSpPr>
            <a:spLocks noGrp="1"/>
          </p:cNvSpPr>
          <p:nvPr>
            <p:ph type="sldNum" sz="quarter" idx="12"/>
          </p:nvPr>
        </p:nvSpPr>
        <p:spPr/>
        <p:txBody>
          <a:bodyPr/>
          <a:lstStyle/>
          <a:p>
            <a:fld id="{2A90EE39-82A8-4ECD-9F2F-122B8BC51252}" type="slidenum">
              <a:rPr lang="en-US" smtClean="0"/>
              <a:t>21</a:t>
            </a:fld>
            <a:endParaRPr lang="en-US" dirty="0"/>
          </a:p>
        </p:txBody>
      </p:sp>
      <p:sp>
        <p:nvSpPr>
          <p:cNvPr id="6" name="Title 1">
            <a:extLst>
              <a:ext uri="{FF2B5EF4-FFF2-40B4-BE49-F238E27FC236}">
                <a16:creationId xmlns:a16="http://schemas.microsoft.com/office/drawing/2014/main" id="{6881760C-C1A2-8149-0359-024635206197}"/>
              </a:ext>
            </a:extLst>
          </p:cNvPr>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ambria" panose="02040503050406030204" pitchFamily="18" charset="0"/>
                <a:ea typeface="Cambria" panose="02040503050406030204" pitchFamily="18" charset="0"/>
              </a:rPr>
              <a:t>5. TEST – </a:t>
            </a:r>
            <a:r>
              <a:rPr lang="en-IN" sz="3200" dirty="0"/>
              <a:t>Testing &amp; Validation </a:t>
            </a:r>
            <a:endParaRPr lang="en-US" sz="3200" b="1"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808CEED6-976E-ED37-2A87-BBC37410FE29}"/>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3" name="Date Placeholder 2">
            <a:extLst>
              <a:ext uri="{FF2B5EF4-FFF2-40B4-BE49-F238E27FC236}">
                <a16:creationId xmlns:a16="http://schemas.microsoft.com/office/drawing/2014/main" id="{62A6D7CB-9193-09F0-B8BA-B3B412F483C8}"/>
              </a:ext>
            </a:extLst>
          </p:cNvPr>
          <p:cNvSpPr>
            <a:spLocks noGrp="1"/>
          </p:cNvSpPr>
          <p:nvPr>
            <p:ph type="dt" sz="half" idx="10"/>
          </p:nvPr>
        </p:nvSpPr>
        <p:spPr/>
        <p:txBody>
          <a:bodyPr/>
          <a:lstStyle/>
          <a:p>
            <a:fld id="{40E6862E-FD22-4B40-881F-75E064FD591D}" type="datetime1">
              <a:rPr lang="en-US" smtClean="0"/>
              <a:t>1/27/2026</a:t>
            </a:fld>
            <a:endParaRPr lang="en-US" dirty="0"/>
          </a:p>
        </p:txBody>
      </p:sp>
    </p:spTree>
    <p:extLst>
      <p:ext uri="{BB962C8B-B14F-4D97-AF65-F5344CB8AC3E}">
        <p14:creationId xmlns:p14="http://schemas.microsoft.com/office/powerpoint/2010/main" val="1716057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733FB-DB2C-7066-0D64-8BD24BF5DC1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4E0CF7-67CA-FC2A-ABAD-405BDE9E9537}"/>
              </a:ext>
            </a:extLst>
          </p:cNvPr>
          <p:cNvSpPr>
            <a:spLocks noGrp="1"/>
          </p:cNvSpPr>
          <p:nvPr>
            <p:ph type="sldNum" sz="quarter" idx="12"/>
          </p:nvPr>
        </p:nvSpPr>
        <p:spPr/>
        <p:txBody>
          <a:bodyPr/>
          <a:lstStyle/>
          <a:p>
            <a:fld id="{2A90EE39-82A8-4ECD-9F2F-122B8BC51252}" type="slidenum">
              <a:rPr lang="en-US" smtClean="0"/>
              <a:t>22</a:t>
            </a:fld>
            <a:endParaRPr lang="en-US" dirty="0"/>
          </a:p>
        </p:txBody>
      </p:sp>
      <p:sp>
        <p:nvSpPr>
          <p:cNvPr id="6" name="Title 1">
            <a:extLst>
              <a:ext uri="{FF2B5EF4-FFF2-40B4-BE49-F238E27FC236}">
                <a16:creationId xmlns:a16="http://schemas.microsoft.com/office/drawing/2014/main" id="{571E1176-9CF3-BB45-4EAB-870148B6A4A7}"/>
              </a:ext>
            </a:extLst>
          </p:cNvPr>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ambria" panose="02040503050406030204" pitchFamily="18" charset="0"/>
                <a:ea typeface="Cambria" panose="02040503050406030204" pitchFamily="18" charset="0"/>
              </a:rPr>
              <a:t>5. TEST – </a:t>
            </a:r>
            <a:r>
              <a:rPr lang="en-US" sz="3200" b="1" dirty="0"/>
              <a:t>RESULTS &amp; CONCLUSION</a:t>
            </a:r>
            <a:endParaRPr lang="en-US" sz="3200" b="1"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2A507C5B-317A-0DE0-8068-CCCC23AD2037}"/>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3" name="Date Placeholder 2">
            <a:extLst>
              <a:ext uri="{FF2B5EF4-FFF2-40B4-BE49-F238E27FC236}">
                <a16:creationId xmlns:a16="http://schemas.microsoft.com/office/drawing/2014/main" id="{ACACDFDB-8EF9-7F4D-5703-55DB2DC5CBB8}"/>
              </a:ext>
            </a:extLst>
          </p:cNvPr>
          <p:cNvSpPr>
            <a:spLocks noGrp="1"/>
          </p:cNvSpPr>
          <p:nvPr>
            <p:ph type="dt" sz="half" idx="10"/>
          </p:nvPr>
        </p:nvSpPr>
        <p:spPr/>
        <p:txBody>
          <a:bodyPr/>
          <a:lstStyle/>
          <a:p>
            <a:fld id="{70A3CD62-DF49-4727-B9E1-918FCD976666}" type="datetime1">
              <a:rPr lang="en-US" smtClean="0"/>
              <a:t>1/27/2026</a:t>
            </a:fld>
            <a:endParaRPr lang="en-US" dirty="0"/>
          </a:p>
        </p:txBody>
      </p:sp>
    </p:spTree>
    <p:extLst>
      <p:ext uri="{BB962C8B-B14F-4D97-AF65-F5344CB8AC3E}">
        <p14:creationId xmlns:p14="http://schemas.microsoft.com/office/powerpoint/2010/main" val="3910427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FC369-37BE-EB0F-0113-8AE421575D6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3A7363-DF17-DBD1-749C-D62F4EB6C126}"/>
              </a:ext>
            </a:extLst>
          </p:cNvPr>
          <p:cNvSpPr>
            <a:spLocks noGrp="1"/>
          </p:cNvSpPr>
          <p:nvPr>
            <p:ph type="sldNum" sz="quarter" idx="12"/>
          </p:nvPr>
        </p:nvSpPr>
        <p:spPr/>
        <p:txBody>
          <a:bodyPr/>
          <a:lstStyle/>
          <a:p>
            <a:fld id="{2A90EE39-82A8-4ECD-9F2F-122B8BC51252}" type="slidenum">
              <a:rPr lang="en-US" smtClean="0"/>
              <a:t>23</a:t>
            </a:fld>
            <a:endParaRPr lang="en-US" dirty="0"/>
          </a:p>
        </p:txBody>
      </p:sp>
      <p:sp>
        <p:nvSpPr>
          <p:cNvPr id="6" name="Title 1">
            <a:extLst>
              <a:ext uri="{FF2B5EF4-FFF2-40B4-BE49-F238E27FC236}">
                <a16:creationId xmlns:a16="http://schemas.microsoft.com/office/drawing/2014/main" id="{B5C9E6D0-B80E-20C8-D1BD-32D9A332DEF7}"/>
              </a:ext>
            </a:extLst>
          </p:cNvPr>
          <p:cNvSpPr txBox="1">
            <a:spLocks/>
          </p:cNvSpPr>
          <p:nvPr/>
        </p:nvSpPr>
        <p:spPr>
          <a:xfrm>
            <a:off x="0" y="1"/>
            <a:ext cx="12192000" cy="583323"/>
          </a:xfrm>
          <a:prstGeom prst="rect">
            <a:avLst/>
          </a:prstGeom>
          <a:solidFill>
            <a:schemeClr val="accent4">
              <a:lumMod val="60000"/>
              <a:lumOff val="4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dirty="0"/>
              <a:t>Project Outcomes Expected </a:t>
            </a:r>
            <a:endParaRPr lang="en-US" sz="3200" b="1"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999BA5B0-0FFA-C3E9-46CE-5B7FAF051249}"/>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3" name="Date Placeholder 2">
            <a:extLst>
              <a:ext uri="{FF2B5EF4-FFF2-40B4-BE49-F238E27FC236}">
                <a16:creationId xmlns:a16="http://schemas.microsoft.com/office/drawing/2014/main" id="{8A8DA771-798F-4091-0022-24759E574173}"/>
              </a:ext>
            </a:extLst>
          </p:cNvPr>
          <p:cNvSpPr>
            <a:spLocks noGrp="1"/>
          </p:cNvSpPr>
          <p:nvPr>
            <p:ph type="dt" sz="half" idx="10"/>
          </p:nvPr>
        </p:nvSpPr>
        <p:spPr/>
        <p:txBody>
          <a:bodyPr/>
          <a:lstStyle/>
          <a:p>
            <a:fld id="{BD9E39B8-00E5-492F-BA3E-F8364BCF23B1}" type="datetime1">
              <a:rPr lang="en-US" smtClean="0"/>
              <a:t>1/27/2026</a:t>
            </a:fld>
            <a:endParaRPr lang="en-US" dirty="0"/>
          </a:p>
        </p:txBody>
      </p:sp>
    </p:spTree>
    <p:extLst>
      <p:ext uri="{BB962C8B-B14F-4D97-AF65-F5344CB8AC3E}">
        <p14:creationId xmlns:p14="http://schemas.microsoft.com/office/powerpoint/2010/main" val="37191720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90EE39-82A8-4ECD-9F2F-122B8BC51252}" type="slidenum">
              <a:rPr lang="en-US" smtClean="0"/>
              <a:t>24</a:t>
            </a:fld>
            <a:endParaRPr lang="en-US" dirty="0"/>
          </a:p>
        </p:txBody>
      </p:sp>
      <p:sp>
        <p:nvSpPr>
          <p:cNvPr id="5" name="Title 1"/>
          <p:cNvSpPr txBox="1">
            <a:spLocks/>
          </p:cNvSpPr>
          <p:nvPr/>
        </p:nvSpPr>
        <p:spPr>
          <a:xfrm>
            <a:off x="0" y="1"/>
            <a:ext cx="12192000" cy="583323"/>
          </a:xfrm>
          <a:prstGeom prst="rect">
            <a:avLst/>
          </a:prstGeom>
          <a:solidFill>
            <a:schemeClr val="accent2">
              <a:lumMod val="40000"/>
              <a:lumOff val="60000"/>
            </a:schemeClr>
          </a:solidFill>
          <a:ln>
            <a:noFill/>
          </a:ln>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Cambria" panose="02040503050406030204" pitchFamily="18" charset="0"/>
                <a:ea typeface="Cambria" panose="02040503050406030204" pitchFamily="18" charset="0"/>
              </a:rPr>
              <a:t> Works to be done </a:t>
            </a:r>
            <a:endParaRPr lang="en-US" sz="2800" dirty="0">
              <a:latin typeface="Cambria" panose="02040503050406030204" pitchFamily="18" charset="0"/>
              <a:ea typeface="Cambria" panose="02040503050406030204" pitchFamily="18" charset="0"/>
            </a:endParaRPr>
          </a:p>
        </p:txBody>
      </p:sp>
      <p:sp>
        <p:nvSpPr>
          <p:cNvPr id="2" name="TextBox 1"/>
          <p:cNvSpPr txBox="1"/>
          <p:nvPr/>
        </p:nvSpPr>
        <p:spPr>
          <a:xfrm>
            <a:off x="1324303" y="993228"/>
            <a:ext cx="8781394" cy="1200329"/>
          </a:xfrm>
          <a:prstGeom prst="rect">
            <a:avLst/>
          </a:prstGeom>
          <a:noFill/>
        </p:spPr>
        <p:txBody>
          <a:bodyPr wrap="square" rtlCol="0">
            <a:spAutoFit/>
          </a:bodyPr>
          <a:lstStyle/>
          <a:p>
            <a:pPr marL="457200" indent="-457200">
              <a:buFont typeface="+mj-lt"/>
              <a:buAutoNum type="arabicPeriod"/>
            </a:pPr>
            <a:r>
              <a:rPr lang="en-US" sz="2400" dirty="0"/>
              <a:t>Patent application</a:t>
            </a:r>
          </a:p>
          <a:p>
            <a:pPr marL="457200" indent="-457200">
              <a:buFont typeface="+mj-lt"/>
              <a:buAutoNum type="arabicPeriod"/>
            </a:pPr>
            <a:r>
              <a:rPr lang="en-US" sz="2400" dirty="0"/>
              <a:t>Journal publication</a:t>
            </a:r>
          </a:p>
          <a:p>
            <a:pPr marL="457200" indent="-457200">
              <a:buFont typeface="+mj-lt"/>
              <a:buAutoNum type="arabicPeriod"/>
            </a:pPr>
            <a:r>
              <a:rPr lang="en-US" sz="2400" dirty="0"/>
              <a:t>Conference presentation</a:t>
            </a:r>
          </a:p>
        </p:txBody>
      </p:sp>
      <p:sp>
        <p:nvSpPr>
          <p:cNvPr id="3" name="TextBox 2">
            <a:extLst>
              <a:ext uri="{FF2B5EF4-FFF2-40B4-BE49-F238E27FC236}">
                <a16:creationId xmlns:a16="http://schemas.microsoft.com/office/drawing/2014/main" id="{51B6833F-A426-6B4E-F7DC-CBE335E48C23}"/>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6" name="Date Placeholder 5">
            <a:extLst>
              <a:ext uri="{FF2B5EF4-FFF2-40B4-BE49-F238E27FC236}">
                <a16:creationId xmlns:a16="http://schemas.microsoft.com/office/drawing/2014/main" id="{9A827F6C-B6CF-2612-E8DF-DC376B787FA3}"/>
              </a:ext>
            </a:extLst>
          </p:cNvPr>
          <p:cNvSpPr>
            <a:spLocks noGrp="1"/>
          </p:cNvSpPr>
          <p:nvPr>
            <p:ph type="dt" sz="half" idx="10"/>
          </p:nvPr>
        </p:nvSpPr>
        <p:spPr/>
        <p:txBody>
          <a:bodyPr/>
          <a:lstStyle/>
          <a:p>
            <a:fld id="{7B6E177F-22FC-4E96-98B4-C1476FB3FE1A}" type="datetime1">
              <a:rPr lang="en-US" smtClean="0"/>
              <a:t>1/27/2026</a:t>
            </a:fld>
            <a:endParaRPr lang="en-US" dirty="0"/>
          </a:p>
        </p:txBody>
      </p:sp>
    </p:spTree>
    <p:extLst>
      <p:ext uri="{BB962C8B-B14F-4D97-AF65-F5344CB8AC3E}">
        <p14:creationId xmlns:p14="http://schemas.microsoft.com/office/powerpoint/2010/main" val="1328000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90EE39-82A8-4ECD-9F2F-122B8BC51252}" type="slidenum">
              <a:rPr lang="en-US" smtClean="0"/>
              <a:t>25</a:t>
            </a:fld>
            <a:endParaRPr lang="en-US" dirty="0"/>
          </a:p>
        </p:txBody>
      </p:sp>
      <p:sp>
        <p:nvSpPr>
          <p:cNvPr id="5" name="Title 1"/>
          <p:cNvSpPr txBox="1">
            <a:spLocks/>
          </p:cNvSpPr>
          <p:nvPr/>
        </p:nvSpPr>
        <p:spPr>
          <a:xfrm>
            <a:off x="0" y="1"/>
            <a:ext cx="12192000" cy="583323"/>
          </a:xfrm>
          <a:prstGeom prst="rect">
            <a:avLst/>
          </a:prstGeom>
          <a:solidFill>
            <a:schemeClr val="accent2">
              <a:lumMod val="40000"/>
              <a:lumOff val="6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Cambria" panose="02040503050406030204" pitchFamily="18" charset="0"/>
                <a:ea typeface="Cambria" panose="02040503050406030204" pitchFamily="18" charset="0"/>
              </a:rPr>
              <a:t> PROJECT EXPENDITURE STATEMENT </a:t>
            </a:r>
            <a:endParaRPr lang="en-US" sz="2800" dirty="0">
              <a:latin typeface="Cambria" panose="02040503050406030204" pitchFamily="18" charset="0"/>
              <a:ea typeface="Cambria" panose="020405030504060302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687841969"/>
              </p:ext>
            </p:extLst>
          </p:nvPr>
        </p:nvGraphicFramePr>
        <p:xfrm>
          <a:off x="1087620" y="1079429"/>
          <a:ext cx="9765258" cy="4092178"/>
        </p:xfrm>
        <a:graphic>
          <a:graphicData uri="http://schemas.openxmlformats.org/drawingml/2006/table">
            <a:tbl>
              <a:tblPr firstRow="1" bandRow="1">
                <a:tableStyleId>{5DA37D80-6434-44D0-A028-1B22A696006F}</a:tableStyleId>
              </a:tblPr>
              <a:tblGrid>
                <a:gridCol w="1160625">
                  <a:extLst>
                    <a:ext uri="{9D8B030D-6E8A-4147-A177-3AD203B41FA5}">
                      <a16:colId xmlns:a16="http://schemas.microsoft.com/office/drawing/2014/main" val="20000"/>
                    </a:ext>
                  </a:extLst>
                </a:gridCol>
                <a:gridCol w="5996345">
                  <a:extLst>
                    <a:ext uri="{9D8B030D-6E8A-4147-A177-3AD203B41FA5}">
                      <a16:colId xmlns:a16="http://schemas.microsoft.com/office/drawing/2014/main" val="20001"/>
                    </a:ext>
                  </a:extLst>
                </a:gridCol>
                <a:gridCol w="2608288">
                  <a:extLst>
                    <a:ext uri="{9D8B030D-6E8A-4147-A177-3AD203B41FA5}">
                      <a16:colId xmlns:a16="http://schemas.microsoft.com/office/drawing/2014/main" val="20002"/>
                    </a:ext>
                  </a:extLst>
                </a:gridCol>
              </a:tblGrid>
              <a:tr h="734381">
                <a:tc>
                  <a:txBody>
                    <a:bodyPr/>
                    <a:lstStyle/>
                    <a:p>
                      <a:pPr algn="ctr"/>
                      <a:r>
                        <a:rPr lang="en-US" sz="2000" dirty="0"/>
                        <a:t>Sl. No.</a:t>
                      </a:r>
                    </a:p>
                  </a:txBody>
                  <a:tcPr anchor="ctr">
                    <a:solidFill>
                      <a:srgbClr val="FFCCFF"/>
                    </a:solidFill>
                  </a:tcPr>
                </a:tc>
                <a:tc>
                  <a:txBody>
                    <a:bodyPr/>
                    <a:lstStyle/>
                    <a:p>
                      <a:pPr algn="ctr"/>
                      <a:r>
                        <a:rPr lang="en-US" sz="2000" dirty="0"/>
                        <a:t> Activity </a:t>
                      </a:r>
                    </a:p>
                  </a:txBody>
                  <a:tcPr anchor="ctr">
                    <a:solidFill>
                      <a:srgbClr val="FFCCFF"/>
                    </a:solidFill>
                  </a:tcPr>
                </a:tc>
                <a:tc>
                  <a:txBody>
                    <a:bodyPr/>
                    <a:lstStyle/>
                    <a:p>
                      <a:pPr algn="ctr"/>
                      <a:r>
                        <a:rPr lang="en-US" sz="2000" dirty="0"/>
                        <a:t>Expenditure amount</a:t>
                      </a:r>
                    </a:p>
                    <a:p>
                      <a:pPr algn="ctr"/>
                      <a:r>
                        <a:rPr lang="en-US" sz="2000" dirty="0"/>
                        <a:t> (Rs.)</a:t>
                      </a:r>
                    </a:p>
                  </a:txBody>
                  <a:tcPr anchor="ctr">
                    <a:solidFill>
                      <a:srgbClr val="FFCCFF"/>
                    </a:solidFill>
                  </a:tcPr>
                </a:tc>
                <a:extLst>
                  <a:ext uri="{0D108BD9-81ED-4DB2-BD59-A6C34878D82A}">
                    <a16:rowId xmlns:a16="http://schemas.microsoft.com/office/drawing/2014/main" val="10000"/>
                  </a:ext>
                </a:extLst>
              </a:tr>
              <a:tr h="479685">
                <a:tc>
                  <a:txBody>
                    <a:bodyPr/>
                    <a:lstStyle/>
                    <a:p>
                      <a:pPr algn="ctr"/>
                      <a:r>
                        <a:rPr lang="en-US" sz="2000" b="1" dirty="0"/>
                        <a:t>1</a:t>
                      </a:r>
                    </a:p>
                  </a:txBody>
                  <a:tcPr anchor="ctr"/>
                </a:tc>
                <a:tc>
                  <a:txBody>
                    <a:bodyPr/>
                    <a:lstStyle/>
                    <a:p>
                      <a:pPr algn="l"/>
                      <a:r>
                        <a:rPr lang="en-US" sz="2000" b="1" dirty="0"/>
                        <a:t>Material /components purchase </a:t>
                      </a:r>
                    </a:p>
                  </a:txBody>
                  <a:tcPr anchor="ctr"/>
                </a:tc>
                <a:tc>
                  <a:txBody>
                    <a:bodyPr/>
                    <a:lstStyle/>
                    <a:p>
                      <a:pPr algn="ctr"/>
                      <a:endParaRPr lang="en-US" dirty="0"/>
                    </a:p>
                  </a:txBody>
                  <a:tcPr anchor="ctr"/>
                </a:tc>
                <a:extLst>
                  <a:ext uri="{0D108BD9-81ED-4DB2-BD59-A6C34878D82A}">
                    <a16:rowId xmlns:a16="http://schemas.microsoft.com/office/drawing/2014/main" val="10002"/>
                  </a:ext>
                </a:extLst>
              </a:tr>
              <a:tr h="509666">
                <a:tc>
                  <a:txBody>
                    <a:bodyPr/>
                    <a:lstStyle/>
                    <a:p>
                      <a:pPr algn="ctr"/>
                      <a:r>
                        <a:rPr lang="en-US" sz="2000" b="1" dirty="0"/>
                        <a:t>2</a:t>
                      </a:r>
                    </a:p>
                  </a:txBody>
                  <a:tcPr anchor="ctr"/>
                </a:tc>
                <a:tc>
                  <a:txBody>
                    <a:bodyPr/>
                    <a:lstStyle/>
                    <a:p>
                      <a:pPr algn="l"/>
                      <a:r>
                        <a:rPr lang="en-US" sz="2000" b="1" dirty="0"/>
                        <a:t>Fabrication /experiment </a:t>
                      </a:r>
                    </a:p>
                  </a:txBody>
                  <a:tcPr anchor="ctr"/>
                </a:tc>
                <a:tc>
                  <a:txBody>
                    <a:bodyPr/>
                    <a:lstStyle/>
                    <a:p>
                      <a:pPr algn="ctr"/>
                      <a:endParaRPr lang="en-US" dirty="0"/>
                    </a:p>
                  </a:txBody>
                  <a:tcPr anchor="ctr"/>
                </a:tc>
                <a:extLst>
                  <a:ext uri="{0D108BD9-81ED-4DB2-BD59-A6C34878D82A}">
                    <a16:rowId xmlns:a16="http://schemas.microsoft.com/office/drawing/2014/main" val="10003"/>
                  </a:ext>
                </a:extLst>
              </a:tr>
              <a:tr h="509665">
                <a:tc>
                  <a:txBody>
                    <a:bodyPr/>
                    <a:lstStyle/>
                    <a:p>
                      <a:pPr algn="ctr"/>
                      <a:r>
                        <a:rPr lang="en-US" sz="2000" b="1" dirty="0"/>
                        <a:t>3</a:t>
                      </a:r>
                    </a:p>
                  </a:txBody>
                  <a:tcPr anchor="ctr"/>
                </a:tc>
                <a:tc>
                  <a:txBody>
                    <a:bodyPr/>
                    <a:lstStyle/>
                    <a:p>
                      <a:pPr algn="l"/>
                      <a:r>
                        <a:rPr lang="en-US" sz="2000" b="1" dirty="0"/>
                        <a:t>Testing /characterization </a:t>
                      </a:r>
                    </a:p>
                  </a:txBody>
                  <a:tcPr anchor="ctr"/>
                </a:tc>
                <a:tc>
                  <a:txBody>
                    <a:bodyPr/>
                    <a:lstStyle/>
                    <a:p>
                      <a:pPr algn="ctr"/>
                      <a:endParaRPr lang="en-US" dirty="0"/>
                    </a:p>
                  </a:txBody>
                  <a:tcPr anchor="ctr"/>
                </a:tc>
                <a:extLst>
                  <a:ext uri="{0D108BD9-81ED-4DB2-BD59-A6C34878D82A}">
                    <a16:rowId xmlns:a16="http://schemas.microsoft.com/office/drawing/2014/main" val="10004"/>
                  </a:ext>
                </a:extLst>
              </a:tr>
              <a:tr h="755477">
                <a:tc>
                  <a:txBody>
                    <a:bodyPr/>
                    <a:lstStyle/>
                    <a:p>
                      <a:pPr algn="ctr"/>
                      <a:r>
                        <a:rPr lang="en-US" sz="2000" b="1" dirty="0"/>
                        <a:t>4</a:t>
                      </a:r>
                    </a:p>
                  </a:txBody>
                  <a:tcPr anchor="ctr"/>
                </a:tc>
                <a:tc>
                  <a:txBody>
                    <a:bodyPr/>
                    <a:lstStyle/>
                    <a:p>
                      <a:pPr algn="l"/>
                      <a:r>
                        <a:rPr lang="en-US" sz="2000" b="1" dirty="0"/>
                        <a:t>Project outcome activity expenditure </a:t>
                      </a:r>
                      <a:r>
                        <a:rPr lang="en-US" sz="2000" b="1" i="1" dirty="0"/>
                        <a:t>(attending conferences, technical</a:t>
                      </a:r>
                      <a:r>
                        <a:rPr lang="en-US" sz="2000" b="1" i="1" baseline="0" dirty="0"/>
                        <a:t> event, etc…)</a:t>
                      </a:r>
                      <a:endParaRPr lang="en-US" sz="2000" b="1" i="1" dirty="0"/>
                    </a:p>
                  </a:txBody>
                  <a:tcPr anchor="ctr"/>
                </a:tc>
                <a:tc>
                  <a:txBody>
                    <a:bodyPr/>
                    <a:lstStyle/>
                    <a:p>
                      <a:pPr algn="ctr"/>
                      <a:endParaRPr lang="en-US" dirty="0"/>
                    </a:p>
                  </a:txBody>
                  <a:tcPr anchor="ctr"/>
                </a:tc>
                <a:extLst>
                  <a:ext uri="{0D108BD9-81ED-4DB2-BD59-A6C34878D82A}">
                    <a16:rowId xmlns:a16="http://schemas.microsoft.com/office/drawing/2014/main" val="10005"/>
                  </a:ext>
                </a:extLst>
              </a:tr>
              <a:tr h="548667">
                <a:tc>
                  <a:txBody>
                    <a:bodyPr/>
                    <a:lstStyle/>
                    <a:p>
                      <a:pPr algn="ctr"/>
                      <a:r>
                        <a:rPr lang="en-US" sz="2000" b="1" dirty="0"/>
                        <a:t>5</a:t>
                      </a:r>
                    </a:p>
                  </a:txBody>
                  <a:tcPr anchor="ctr"/>
                </a:tc>
                <a:tc>
                  <a:txBody>
                    <a:bodyPr/>
                    <a:lstStyle/>
                    <a:p>
                      <a:pPr algn="l"/>
                      <a:r>
                        <a:rPr lang="en-US" sz="2000" b="1" i="0" dirty="0"/>
                        <a:t>Miscellaneous </a:t>
                      </a:r>
                    </a:p>
                  </a:txBody>
                  <a:tcPr anchor="ctr"/>
                </a:tc>
                <a:tc>
                  <a:txBody>
                    <a:bodyPr/>
                    <a:lstStyle/>
                    <a:p>
                      <a:pPr algn="ctr"/>
                      <a:endParaRPr lang="en-US" dirty="0"/>
                    </a:p>
                  </a:txBody>
                  <a:tcPr anchor="ctr"/>
                </a:tc>
                <a:extLst>
                  <a:ext uri="{0D108BD9-81ED-4DB2-BD59-A6C34878D82A}">
                    <a16:rowId xmlns:a16="http://schemas.microsoft.com/office/drawing/2014/main" val="10006"/>
                  </a:ext>
                </a:extLst>
              </a:tr>
              <a:tr h="554637">
                <a:tc>
                  <a:txBody>
                    <a:bodyPr/>
                    <a:lstStyle/>
                    <a:p>
                      <a:pPr algn="ctr"/>
                      <a:endParaRPr lang="en-US" sz="2000" b="1" dirty="0"/>
                    </a:p>
                  </a:txBody>
                  <a:tcPr anchor="ctr"/>
                </a:tc>
                <a:tc>
                  <a:txBody>
                    <a:bodyPr/>
                    <a:lstStyle/>
                    <a:p>
                      <a:pPr algn="r"/>
                      <a:r>
                        <a:rPr lang="en-US" sz="2000" b="1" i="0" dirty="0"/>
                        <a:t>Total cost </a:t>
                      </a:r>
                    </a:p>
                  </a:txBody>
                  <a:tcPr anchor="ctr"/>
                </a:tc>
                <a:tc>
                  <a:txBody>
                    <a:bodyPr/>
                    <a:lstStyle/>
                    <a:p>
                      <a:pPr algn="ctr"/>
                      <a:endParaRPr lang="en-US" dirty="0"/>
                    </a:p>
                  </a:txBody>
                  <a:tcPr anchor="ctr"/>
                </a:tc>
                <a:extLst>
                  <a:ext uri="{0D108BD9-81ED-4DB2-BD59-A6C34878D82A}">
                    <a16:rowId xmlns:a16="http://schemas.microsoft.com/office/drawing/2014/main" val="10007"/>
                  </a:ext>
                </a:extLst>
              </a:tr>
            </a:tbl>
          </a:graphicData>
        </a:graphic>
      </p:graphicFrame>
      <p:sp>
        <p:nvSpPr>
          <p:cNvPr id="2" name="TextBox 1">
            <a:extLst>
              <a:ext uri="{FF2B5EF4-FFF2-40B4-BE49-F238E27FC236}">
                <a16:creationId xmlns:a16="http://schemas.microsoft.com/office/drawing/2014/main" id="{FD49685B-50C9-3AE1-8D50-2DB543D4F359}"/>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3" name="Date Placeholder 2">
            <a:extLst>
              <a:ext uri="{FF2B5EF4-FFF2-40B4-BE49-F238E27FC236}">
                <a16:creationId xmlns:a16="http://schemas.microsoft.com/office/drawing/2014/main" id="{26BF2192-66F0-1F8D-010F-A71AB3BE674E}"/>
              </a:ext>
            </a:extLst>
          </p:cNvPr>
          <p:cNvSpPr>
            <a:spLocks noGrp="1"/>
          </p:cNvSpPr>
          <p:nvPr>
            <p:ph type="dt" sz="half" idx="10"/>
          </p:nvPr>
        </p:nvSpPr>
        <p:spPr/>
        <p:txBody>
          <a:bodyPr/>
          <a:lstStyle/>
          <a:p>
            <a:fld id="{D9F90096-B42F-4433-B9BD-060EBF910D32}" type="datetime1">
              <a:rPr lang="en-US" smtClean="0"/>
              <a:t>1/27/2026</a:t>
            </a:fld>
            <a:endParaRPr lang="en-US" dirty="0"/>
          </a:p>
        </p:txBody>
      </p:sp>
    </p:spTree>
    <p:extLst>
      <p:ext uri="{BB962C8B-B14F-4D97-AF65-F5344CB8AC3E}">
        <p14:creationId xmlns:p14="http://schemas.microsoft.com/office/powerpoint/2010/main" val="726208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90EE39-82A8-4ECD-9F2F-122B8BC51252}" type="slidenum">
              <a:rPr lang="en-US" smtClean="0"/>
              <a:t>26</a:t>
            </a:fld>
            <a:endParaRPr lang="en-US" dirty="0"/>
          </a:p>
        </p:txBody>
      </p:sp>
      <p:sp>
        <p:nvSpPr>
          <p:cNvPr id="5" name="Title 1"/>
          <p:cNvSpPr txBox="1">
            <a:spLocks/>
          </p:cNvSpPr>
          <p:nvPr/>
        </p:nvSpPr>
        <p:spPr>
          <a:xfrm>
            <a:off x="0" y="1"/>
            <a:ext cx="12192000" cy="583323"/>
          </a:xfrm>
          <a:prstGeom prst="rect">
            <a:avLst/>
          </a:prstGeom>
          <a:solidFill>
            <a:schemeClr val="accent2">
              <a:lumMod val="40000"/>
              <a:lumOff val="6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Cambria" panose="02040503050406030204" pitchFamily="18" charset="0"/>
                <a:ea typeface="Cambria" panose="02040503050406030204" pitchFamily="18" charset="0"/>
              </a:rPr>
              <a:t>TIME UTILIZATION (MONTHLY REPORT) </a:t>
            </a:r>
            <a:endParaRPr lang="en-US" sz="2800" dirty="0">
              <a:latin typeface="Cambria" panose="02040503050406030204" pitchFamily="18" charset="0"/>
              <a:ea typeface="Cambria" panose="020405030504060302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37776478"/>
              </p:ext>
            </p:extLst>
          </p:nvPr>
        </p:nvGraphicFramePr>
        <p:xfrm>
          <a:off x="0" y="583325"/>
          <a:ext cx="12191999" cy="6274673"/>
        </p:xfrm>
        <a:graphic>
          <a:graphicData uri="http://schemas.openxmlformats.org/drawingml/2006/table">
            <a:tbl>
              <a:tblPr firstRow="1" bandRow="1">
                <a:tableStyleId>{93296810-A885-4BE3-A3E7-6D5BEEA58F35}</a:tableStyleId>
              </a:tblPr>
              <a:tblGrid>
                <a:gridCol w="3435757">
                  <a:extLst>
                    <a:ext uri="{9D8B030D-6E8A-4147-A177-3AD203B41FA5}">
                      <a16:colId xmlns:a16="http://schemas.microsoft.com/office/drawing/2014/main" val="20000"/>
                    </a:ext>
                  </a:extLst>
                </a:gridCol>
                <a:gridCol w="1182965">
                  <a:extLst>
                    <a:ext uri="{9D8B030D-6E8A-4147-A177-3AD203B41FA5}">
                      <a16:colId xmlns:a16="http://schemas.microsoft.com/office/drawing/2014/main" val="20001"/>
                    </a:ext>
                  </a:extLst>
                </a:gridCol>
                <a:gridCol w="1117848">
                  <a:extLst>
                    <a:ext uri="{9D8B030D-6E8A-4147-A177-3AD203B41FA5}">
                      <a16:colId xmlns:a16="http://schemas.microsoft.com/office/drawing/2014/main" val="20002"/>
                    </a:ext>
                  </a:extLst>
                </a:gridCol>
                <a:gridCol w="1034839">
                  <a:extLst>
                    <a:ext uri="{9D8B030D-6E8A-4147-A177-3AD203B41FA5}">
                      <a16:colId xmlns:a16="http://schemas.microsoft.com/office/drawing/2014/main" val="2245793184"/>
                    </a:ext>
                  </a:extLst>
                </a:gridCol>
                <a:gridCol w="883227">
                  <a:extLst>
                    <a:ext uri="{9D8B030D-6E8A-4147-A177-3AD203B41FA5}">
                      <a16:colId xmlns:a16="http://schemas.microsoft.com/office/drawing/2014/main" val="20004"/>
                    </a:ext>
                  </a:extLst>
                </a:gridCol>
                <a:gridCol w="969818">
                  <a:extLst>
                    <a:ext uri="{9D8B030D-6E8A-4147-A177-3AD203B41FA5}">
                      <a16:colId xmlns:a16="http://schemas.microsoft.com/office/drawing/2014/main" val="20005"/>
                    </a:ext>
                  </a:extLst>
                </a:gridCol>
                <a:gridCol w="900546">
                  <a:extLst>
                    <a:ext uri="{9D8B030D-6E8A-4147-A177-3AD203B41FA5}">
                      <a16:colId xmlns:a16="http://schemas.microsoft.com/office/drawing/2014/main" val="20006"/>
                    </a:ext>
                  </a:extLst>
                </a:gridCol>
                <a:gridCol w="983417">
                  <a:extLst>
                    <a:ext uri="{9D8B030D-6E8A-4147-A177-3AD203B41FA5}">
                      <a16:colId xmlns:a16="http://schemas.microsoft.com/office/drawing/2014/main" val="20007"/>
                    </a:ext>
                  </a:extLst>
                </a:gridCol>
                <a:gridCol w="802456">
                  <a:extLst>
                    <a:ext uri="{9D8B030D-6E8A-4147-A177-3AD203B41FA5}">
                      <a16:colId xmlns:a16="http://schemas.microsoft.com/office/drawing/2014/main" val="20008"/>
                    </a:ext>
                  </a:extLst>
                </a:gridCol>
                <a:gridCol w="881126">
                  <a:extLst>
                    <a:ext uri="{9D8B030D-6E8A-4147-A177-3AD203B41FA5}">
                      <a16:colId xmlns:a16="http://schemas.microsoft.com/office/drawing/2014/main" val="20009"/>
                    </a:ext>
                  </a:extLst>
                </a:gridCol>
              </a:tblGrid>
              <a:tr h="946550">
                <a:tc>
                  <a:txBody>
                    <a:bodyPr/>
                    <a:lstStyle/>
                    <a:p>
                      <a:endParaRPr lang="en-US" sz="1600" dirty="0">
                        <a:latin typeface="Cambria" panose="02040503050406030204" pitchFamily="18" charset="0"/>
                        <a:ea typeface="Cambria" panose="02040503050406030204" pitchFamily="18" charset="0"/>
                      </a:endParaRPr>
                    </a:p>
                  </a:txBody>
                  <a:tcPr/>
                </a:tc>
                <a:tc>
                  <a:txBody>
                    <a:bodyPr/>
                    <a:lstStyle/>
                    <a:p>
                      <a:pPr algn="ctr"/>
                      <a:r>
                        <a:rPr lang="en-US" sz="1800" dirty="0">
                          <a:latin typeface="Cambria" panose="02040503050406030204" pitchFamily="18" charset="0"/>
                          <a:ea typeface="Cambria" panose="02040503050406030204" pitchFamily="18" charset="0"/>
                        </a:rPr>
                        <a:t>1-15 Jan</a:t>
                      </a:r>
                    </a:p>
                    <a:p>
                      <a:pPr algn="ctr"/>
                      <a:r>
                        <a:rPr lang="en-US" sz="1800" dirty="0">
                          <a:latin typeface="Cambria" panose="02040503050406030204" pitchFamily="18" charset="0"/>
                          <a:ea typeface="Cambria" panose="02040503050406030204" pitchFamily="18" charset="0"/>
                        </a:rPr>
                        <a:t>2026</a:t>
                      </a:r>
                    </a:p>
                  </a:txBody>
                  <a:tcPr/>
                </a:tc>
                <a:tc>
                  <a:txBody>
                    <a:bodyPr/>
                    <a:lstStyle/>
                    <a:p>
                      <a:pPr algn="ctr"/>
                      <a:r>
                        <a:rPr lang="en-US" sz="1800" dirty="0">
                          <a:latin typeface="Cambria" panose="02040503050406030204" pitchFamily="18" charset="0"/>
                          <a:ea typeface="Cambria" panose="02040503050406030204" pitchFamily="18" charset="0"/>
                        </a:rPr>
                        <a:t>16-31 Jan</a:t>
                      </a:r>
                    </a:p>
                    <a:p>
                      <a:pPr algn="ctr"/>
                      <a:r>
                        <a:rPr lang="en-US" sz="1800" dirty="0">
                          <a:latin typeface="Cambria" panose="02040503050406030204" pitchFamily="18" charset="0"/>
                          <a:ea typeface="Cambria" panose="02040503050406030204" pitchFamily="18" charset="0"/>
                        </a:rPr>
                        <a:t>2026</a:t>
                      </a:r>
                    </a:p>
                  </a:txBody>
                  <a:tcPr/>
                </a:tc>
                <a:tc>
                  <a:txBody>
                    <a:bodyPr/>
                    <a:lstStyle/>
                    <a:p>
                      <a:pPr algn="ctr"/>
                      <a:r>
                        <a:rPr lang="en-US" sz="1800" dirty="0">
                          <a:latin typeface="Cambria" panose="02040503050406030204" pitchFamily="18" charset="0"/>
                          <a:ea typeface="Cambria" panose="02040503050406030204" pitchFamily="18" charset="0"/>
                        </a:rPr>
                        <a:t>1-15 Feb  2026</a:t>
                      </a:r>
                    </a:p>
                  </a:txBody>
                  <a:tcPr/>
                </a:tc>
                <a:tc>
                  <a:txBody>
                    <a:bodyPr/>
                    <a:lstStyle/>
                    <a:p>
                      <a:pPr algn="ctr"/>
                      <a:r>
                        <a:rPr lang="en-US" sz="1800" dirty="0">
                          <a:latin typeface="Cambria" panose="02040503050406030204" pitchFamily="18" charset="0"/>
                          <a:ea typeface="Cambria" panose="02040503050406030204" pitchFamily="18" charset="0"/>
                        </a:rPr>
                        <a:t>16-28 Feb 2026</a:t>
                      </a:r>
                    </a:p>
                  </a:txBody>
                  <a:tcPr/>
                </a:tc>
                <a:tc>
                  <a:txBody>
                    <a:bodyPr/>
                    <a:lstStyle/>
                    <a:p>
                      <a:pPr algn="ctr"/>
                      <a:r>
                        <a:rPr lang="en-US" sz="1800" dirty="0">
                          <a:latin typeface="Cambria" panose="02040503050406030204" pitchFamily="18" charset="0"/>
                          <a:ea typeface="Cambria" panose="02040503050406030204" pitchFamily="18" charset="0"/>
                        </a:rPr>
                        <a:t>1-15 Mar</a:t>
                      </a:r>
                    </a:p>
                    <a:p>
                      <a:pPr algn="ctr"/>
                      <a:r>
                        <a:rPr lang="en-US" sz="1800" dirty="0">
                          <a:latin typeface="Cambria" panose="02040503050406030204" pitchFamily="18" charset="0"/>
                          <a:ea typeface="Cambria" panose="02040503050406030204" pitchFamily="18" charset="0"/>
                        </a:rPr>
                        <a:t>2026</a:t>
                      </a:r>
                    </a:p>
                  </a:txBody>
                  <a:tcPr/>
                </a:tc>
                <a:tc>
                  <a:txBody>
                    <a:bodyPr/>
                    <a:lstStyle/>
                    <a:p>
                      <a:pPr algn="ctr"/>
                      <a:r>
                        <a:rPr lang="en-US" sz="1800" dirty="0">
                          <a:latin typeface="Cambria" panose="02040503050406030204" pitchFamily="18" charset="0"/>
                          <a:ea typeface="Cambria" panose="02040503050406030204" pitchFamily="18" charset="0"/>
                        </a:rPr>
                        <a:t>16-31</a:t>
                      </a:r>
                    </a:p>
                    <a:p>
                      <a:pPr algn="ctr"/>
                      <a:r>
                        <a:rPr lang="en-US" sz="1800" dirty="0">
                          <a:latin typeface="Cambria" panose="02040503050406030204" pitchFamily="18" charset="0"/>
                          <a:ea typeface="Cambria" panose="02040503050406030204" pitchFamily="18" charset="0"/>
                        </a:rPr>
                        <a:t>Mar</a:t>
                      </a:r>
                    </a:p>
                    <a:p>
                      <a:pPr algn="ctr"/>
                      <a:r>
                        <a:rPr lang="en-US" sz="1800" dirty="0">
                          <a:latin typeface="Cambria" panose="02040503050406030204" pitchFamily="18" charset="0"/>
                          <a:ea typeface="Cambria" panose="02040503050406030204" pitchFamily="18" charset="0"/>
                        </a:rPr>
                        <a:t>2026</a:t>
                      </a:r>
                    </a:p>
                  </a:txBody>
                  <a:tcPr/>
                </a:tc>
                <a:tc>
                  <a:txBody>
                    <a:bodyPr/>
                    <a:lstStyle/>
                    <a:p>
                      <a:pPr algn="ctr"/>
                      <a:r>
                        <a:rPr lang="en-US" sz="1800" dirty="0">
                          <a:latin typeface="Cambria" panose="02040503050406030204" pitchFamily="18" charset="0"/>
                          <a:ea typeface="Cambria" panose="02040503050406030204" pitchFamily="18" charset="0"/>
                        </a:rPr>
                        <a:t>1-15 Apr</a:t>
                      </a:r>
                    </a:p>
                    <a:p>
                      <a:pPr algn="ctr"/>
                      <a:r>
                        <a:rPr lang="en-US" sz="1800" dirty="0">
                          <a:latin typeface="Cambria" panose="02040503050406030204" pitchFamily="18" charset="0"/>
                          <a:ea typeface="Cambria" panose="02040503050406030204" pitchFamily="18" charset="0"/>
                        </a:rPr>
                        <a:t>2026</a:t>
                      </a:r>
                    </a:p>
                  </a:txBody>
                  <a:tcPr/>
                </a:tc>
                <a:tc>
                  <a:txBody>
                    <a:bodyPr/>
                    <a:lstStyle/>
                    <a:p>
                      <a:pPr algn="ctr"/>
                      <a:r>
                        <a:rPr lang="en-US" sz="1600" dirty="0">
                          <a:latin typeface="Cambria" panose="02040503050406030204" pitchFamily="18" charset="0"/>
                          <a:ea typeface="Cambria" panose="02040503050406030204" pitchFamily="18" charset="0"/>
                        </a:rPr>
                        <a:t>16-30</a:t>
                      </a:r>
                    </a:p>
                    <a:p>
                      <a:pPr algn="ctr"/>
                      <a:r>
                        <a:rPr lang="en-US" sz="1600" dirty="0">
                          <a:latin typeface="Cambria" panose="02040503050406030204" pitchFamily="18" charset="0"/>
                          <a:ea typeface="Cambria" panose="02040503050406030204" pitchFamily="18" charset="0"/>
                        </a:rPr>
                        <a:t>Apr</a:t>
                      </a:r>
                    </a:p>
                    <a:p>
                      <a:pPr algn="ctr"/>
                      <a:r>
                        <a:rPr lang="en-US" sz="1600" dirty="0">
                          <a:latin typeface="Cambria" panose="02040503050406030204" pitchFamily="18" charset="0"/>
                          <a:ea typeface="Cambria" panose="02040503050406030204" pitchFamily="18" charset="0"/>
                        </a:rPr>
                        <a:t>2026</a:t>
                      </a:r>
                    </a:p>
                  </a:txBody>
                  <a:tcPr/>
                </a:tc>
                <a:tc>
                  <a:txBody>
                    <a:bodyPr/>
                    <a:lstStyle/>
                    <a:p>
                      <a:pPr algn="ctr"/>
                      <a:r>
                        <a:rPr lang="en-US" sz="1800" dirty="0">
                          <a:latin typeface="Cambria" panose="02040503050406030204" pitchFamily="18" charset="0"/>
                          <a:ea typeface="Cambria" panose="02040503050406030204" pitchFamily="18" charset="0"/>
                        </a:rPr>
                        <a:t>Apr.  2023</a:t>
                      </a:r>
                    </a:p>
                  </a:txBody>
                  <a:tcPr/>
                </a:tc>
                <a:extLst>
                  <a:ext uri="{0D108BD9-81ED-4DB2-BD59-A6C34878D82A}">
                    <a16:rowId xmlns:a16="http://schemas.microsoft.com/office/drawing/2014/main" val="10000"/>
                  </a:ext>
                </a:extLst>
              </a:tr>
              <a:tr h="505495">
                <a:tc>
                  <a:txBody>
                    <a:bodyPr/>
                    <a:lstStyle/>
                    <a:p>
                      <a:pPr algn="l"/>
                      <a:r>
                        <a:rPr lang="en-US" sz="1800" b="1" dirty="0">
                          <a:solidFill>
                            <a:schemeClr val="bg1"/>
                          </a:solidFill>
                          <a:latin typeface="Cambria" panose="02040503050406030204" pitchFamily="18" charset="0"/>
                          <a:ea typeface="Cambria" panose="02040503050406030204" pitchFamily="18" charset="0"/>
                        </a:rPr>
                        <a:t>1. Selection of guide,</a:t>
                      </a:r>
                      <a:r>
                        <a:rPr lang="en-US" sz="1800" b="1" baseline="0" dirty="0">
                          <a:solidFill>
                            <a:schemeClr val="bg1"/>
                          </a:solidFill>
                          <a:latin typeface="Cambria" panose="02040503050406030204" pitchFamily="18" charset="0"/>
                          <a:ea typeface="Cambria" panose="02040503050406030204" pitchFamily="18" charset="0"/>
                        </a:rPr>
                        <a:t> topic.</a:t>
                      </a:r>
                      <a:endParaRPr lang="en-US" sz="1800" b="1" dirty="0">
                        <a:solidFill>
                          <a:schemeClr val="bg1"/>
                        </a:solidFill>
                        <a:latin typeface="Cambria" panose="02040503050406030204" pitchFamily="18" charset="0"/>
                        <a:ea typeface="Cambria" panose="02040503050406030204" pitchFamily="18" charset="0"/>
                      </a:endParaRPr>
                    </a:p>
                  </a:txBody>
                  <a:tcPr>
                    <a:solidFill>
                      <a:schemeClr val="bg2">
                        <a:lumMod val="25000"/>
                      </a:schemeClr>
                    </a:solidFill>
                  </a:tcPr>
                </a:tc>
                <a:tc>
                  <a:txBody>
                    <a:bodyPr/>
                    <a:lstStyle/>
                    <a:p>
                      <a:pPr marL="0" algn="l" defTabSz="914400" rtl="0" eaLnBrk="1" latinLnBrk="0" hangingPunct="1"/>
                      <a:endParaRPr lang="en-US" sz="1800" kern="1200" dirty="0">
                        <a:solidFill>
                          <a:schemeClr val="dk1"/>
                        </a:solidFill>
                        <a:latin typeface="Cambria" panose="02040503050406030204" pitchFamily="18" charset="0"/>
                        <a:ea typeface="Cambria" panose="02040503050406030204" pitchFamily="18" charset="0"/>
                        <a:cs typeface="+mn-cs"/>
                      </a:endParaRPr>
                    </a:p>
                  </a:txBody>
                  <a:tcPr>
                    <a:solidFill>
                      <a:schemeClr val="accent6">
                        <a:lumMod val="40000"/>
                        <a:lumOff val="60000"/>
                      </a:schemeClr>
                    </a:solidFill>
                  </a:tcPr>
                </a:tc>
                <a:tc>
                  <a:txBody>
                    <a:bodyPr/>
                    <a:lstStyle/>
                    <a:p>
                      <a:pPr marL="0" algn="l" defTabSz="914400" rtl="0" eaLnBrk="1" latinLnBrk="0" hangingPunct="1"/>
                      <a:endParaRPr lang="en-US" sz="1800" kern="1200" dirty="0">
                        <a:solidFill>
                          <a:schemeClr val="dk1"/>
                        </a:solidFill>
                        <a:latin typeface="Cambria" panose="02040503050406030204" pitchFamily="18" charset="0"/>
                        <a:ea typeface="Cambria" panose="02040503050406030204" pitchFamily="18" charset="0"/>
                        <a:cs typeface="+mn-cs"/>
                      </a:endParaRPr>
                    </a:p>
                  </a:txBody>
                  <a:tcPr>
                    <a:solidFill>
                      <a:schemeClr val="accent6">
                        <a:lumMod val="40000"/>
                        <a:lumOff val="60000"/>
                      </a:schemeClr>
                    </a:solidFill>
                  </a:tcPr>
                </a:tc>
                <a:tc>
                  <a:txBody>
                    <a:bodyPr/>
                    <a:lstStyle/>
                    <a:p>
                      <a:pPr marL="0" algn="l" defTabSz="914400" rtl="0" eaLnBrk="1" latinLnBrk="0" hangingPunct="1"/>
                      <a:endParaRPr lang="en-US" sz="1800" kern="1200" dirty="0">
                        <a:solidFill>
                          <a:schemeClr val="dk1"/>
                        </a:solidFill>
                        <a:latin typeface="Cambria" panose="02040503050406030204" pitchFamily="18" charset="0"/>
                        <a:ea typeface="Cambria" panose="02040503050406030204" pitchFamily="18" charset="0"/>
                        <a:cs typeface="+mn-cs"/>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extLst>
                  <a:ext uri="{0D108BD9-81ED-4DB2-BD59-A6C34878D82A}">
                    <a16:rowId xmlns:a16="http://schemas.microsoft.com/office/drawing/2014/main" val="10001"/>
                  </a:ext>
                </a:extLst>
              </a:tr>
              <a:tr h="451824">
                <a:tc>
                  <a:txBody>
                    <a:bodyPr/>
                    <a:lstStyle/>
                    <a:p>
                      <a:pPr algn="l"/>
                      <a:r>
                        <a:rPr lang="en-US" sz="1800" b="1" dirty="0">
                          <a:solidFill>
                            <a:schemeClr val="bg1"/>
                          </a:solidFill>
                          <a:latin typeface="Cambria" panose="02040503050406030204" pitchFamily="18" charset="0"/>
                          <a:ea typeface="Cambria" panose="02040503050406030204" pitchFamily="18" charset="0"/>
                        </a:rPr>
                        <a:t>2. Problem</a:t>
                      </a:r>
                      <a:r>
                        <a:rPr lang="en-US" sz="1800" b="1" baseline="0" dirty="0">
                          <a:solidFill>
                            <a:schemeClr val="bg1"/>
                          </a:solidFill>
                          <a:latin typeface="Cambria" panose="02040503050406030204" pitchFamily="18" charset="0"/>
                          <a:ea typeface="Cambria" panose="02040503050406030204" pitchFamily="18" charset="0"/>
                        </a:rPr>
                        <a:t> identified. </a:t>
                      </a:r>
                      <a:endParaRPr lang="en-US" sz="1800" b="1" dirty="0">
                        <a:solidFill>
                          <a:schemeClr val="bg1"/>
                        </a:solidFill>
                        <a:latin typeface="Cambria" panose="02040503050406030204" pitchFamily="18" charset="0"/>
                        <a:ea typeface="Cambria" panose="02040503050406030204" pitchFamily="18" charset="0"/>
                      </a:endParaRPr>
                    </a:p>
                  </a:txBody>
                  <a:tcPr>
                    <a:solidFill>
                      <a:schemeClr val="bg2">
                        <a:lumMod val="25000"/>
                      </a:schemeClr>
                    </a:solidFill>
                  </a:tcPr>
                </a:tc>
                <a:tc>
                  <a:txBody>
                    <a:bodyPr/>
                    <a:lstStyle/>
                    <a:p>
                      <a:endParaRPr lang="en-US" dirty="0">
                        <a:latin typeface="Cambria" panose="02040503050406030204" pitchFamily="18" charset="0"/>
                        <a:ea typeface="Cambria" panose="02040503050406030204" pitchFamily="18" charset="0"/>
                      </a:endParaRPr>
                    </a:p>
                  </a:txBody>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tc>
                <a:tc>
                  <a:txBody>
                    <a:bodyPr/>
                    <a:lstStyle/>
                    <a:p>
                      <a:endParaRPr lang="en-US" dirty="0">
                        <a:latin typeface="Cambria" panose="02040503050406030204" pitchFamily="18" charset="0"/>
                        <a:ea typeface="Cambria" panose="02040503050406030204" pitchFamily="18" charset="0"/>
                      </a:endParaRPr>
                    </a:p>
                  </a:txBody>
                  <a:tcPr/>
                </a:tc>
                <a:tc>
                  <a:txBody>
                    <a:bodyPr/>
                    <a:lstStyle/>
                    <a:p>
                      <a:endParaRPr lang="en-US" dirty="0">
                        <a:latin typeface="Cambria" panose="02040503050406030204" pitchFamily="18" charset="0"/>
                        <a:ea typeface="Cambria" panose="02040503050406030204" pitchFamily="18" charset="0"/>
                      </a:endParaRPr>
                    </a:p>
                  </a:txBody>
                  <a:tcPr/>
                </a:tc>
                <a:tc>
                  <a:txBody>
                    <a:bodyPr/>
                    <a:lstStyle/>
                    <a:p>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002"/>
                  </a:ext>
                </a:extLst>
              </a:tr>
              <a:tr h="468560">
                <a:tc>
                  <a:txBody>
                    <a:bodyPr/>
                    <a:lstStyle/>
                    <a:p>
                      <a:pPr algn="l"/>
                      <a:r>
                        <a:rPr lang="en-US" sz="1800" b="1" dirty="0">
                          <a:solidFill>
                            <a:schemeClr val="bg1"/>
                          </a:solidFill>
                          <a:latin typeface="Cambria" panose="02040503050406030204" pitchFamily="18" charset="0"/>
                          <a:ea typeface="Cambria" panose="02040503050406030204" pitchFamily="18" charset="0"/>
                        </a:rPr>
                        <a:t>3. Literature survey </a:t>
                      </a:r>
                    </a:p>
                  </a:txBody>
                  <a:tcPr>
                    <a:solidFill>
                      <a:schemeClr val="bg2">
                        <a:lumMod val="25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extLst>
                  <a:ext uri="{0D108BD9-81ED-4DB2-BD59-A6C34878D82A}">
                    <a16:rowId xmlns:a16="http://schemas.microsoft.com/office/drawing/2014/main" val="10003"/>
                  </a:ext>
                </a:extLst>
              </a:tr>
              <a:tr h="485293">
                <a:tc>
                  <a:txBody>
                    <a:bodyPr/>
                    <a:lstStyle/>
                    <a:p>
                      <a:pPr algn="l"/>
                      <a:r>
                        <a:rPr lang="en-US" sz="1800" b="1" dirty="0">
                          <a:solidFill>
                            <a:schemeClr val="bg1"/>
                          </a:solidFill>
                          <a:latin typeface="Cambria" panose="02040503050406030204" pitchFamily="18" charset="0"/>
                          <a:ea typeface="Cambria" panose="02040503050406030204" pitchFamily="18" charset="0"/>
                        </a:rPr>
                        <a:t>4. Design and drawing</a:t>
                      </a:r>
                      <a:r>
                        <a:rPr lang="en-US" sz="1800" b="1" baseline="0" dirty="0">
                          <a:solidFill>
                            <a:schemeClr val="bg1"/>
                          </a:solidFill>
                          <a:latin typeface="Cambria" panose="02040503050406030204" pitchFamily="18" charset="0"/>
                          <a:ea typeface="Cambria" panose="02040503050406030204" pitchFamily="18" charset="0"/>
                        </a:rPr>
                        <a:t> </a:t>
                      </a:r>
                      <a:endParaRPr lang="en-US" sz="1800" b="1" dirty="0">
                        <a:solidFill>
                          <a:schemeClr val="bg1"/>
                        </a:solidFill>
                        <a:latin typeface="Cambria" panose="02040503050406030204" pitchFamily="18" charset="0"/>
                        <a:ea typeface="Cambria" panose="02040503050406030204" pitchFamily="18" charset="0"/>
                      </a:endParaRPr>
                    </a:p>
                  </a:txBody>
                  <a:tcPr>
                    <a:solidFill>
                      <a:schemeClr val="bg2">
                        <a:lumMod val="25000"/>
                      </a:schemeClr>
                    </a:solidFill>
                  </a:tcPr>
                </a:tc>
                <a:tc>
                  <a:txBody>
                    <a:bodyPr/>
                    <a:lstStyle/>
                    <a:p>
                      <a:pPr marL="0" algn="l" defTabSz="914400" rtl="0" eaLnBrk="1" latinLnBrk="0" hangingPunct="1"/>
                      <a:endParaRPr lang="en-US" sz="1800" kern="1200" dirty="0">
                        <a:solidFill>
                          <a:schemeClr val="dk1"/>
                        </a:solidFill>
                        <a:latin typeface="Cambria" panose="02040503050406030204" pitchFamily="18" charset="0"/>
                        <a:ea typeface="Cambria" panose="02040503050406030204" pitchFamily="18" charset="0"/>
                        <a:cs typeface="+mn-cs"/>
                      </a:endParaRPr>
                    </a:p>
                  </a:txBody>
                  <a:tcPr>
                    <a:solidFill>
                      <a:schemeClr val="accent6">
                        <a:lumMod val="20000"/>
                        <a:lumOff val="80000"/>
                      </a:schemeClr>
                    </a:solidFill>
                  </a:tcPr>
                </a:tc>
                <a:tc gridSpan="8">
                  <a:txBody>
                    <a:bodyPr/>
                    <a:lstStyle/>
                    <a:p>
                      <a:pPr marL="0" algn="l" defTabSz="914400" rtl="0" eaLnBrk="1" latinLnBrk="0" hangingPunct="1"/>
                      <a:r>
                        <a:rPr lang="en-US" sz="1800" kern="1200" dirty="0">
                          <a:solidFill>
                            <a:schemeClr val="dk1"/>
                          </a:solidFill>
                          <a:latin typeface="Cambria" panose="02040503050406030204" pitchFamily="18" charset="0"/>
                          <a:ea typeface="Cambria" panose="02040503050406030204" pitchFamily="18" charset="0"/>
                          <a:cs typeface="+mn-cs"/>
                        </a:rPr>
                        <a:t>.   </a:t>
                      </a:r>
                    </a:p>
                  </a:txBody>
                  <a:tcPr anchor="ctr">
                    <a:solidFill>
                      <a:schemeClr val="accent6">
                        <a:lumMod val="20000"/>
                        <a:lumOff val="80000"/>
                      </a:schemeClr>
                    </a:solidFill>
                  </a:tcPr>
                </a:tc>
                <a:tc hMerge="1">
                  <a:txBody>
                    <a:bodyPr/>
                    <a:lstStyle/>
                    <a:p>
                      <a:endParaRPr lang="en-IN"/>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4"/>
                  </a:ext>
                </a:extLst>
              </a:tr>
              <a:tr h="662585">
                <a:tc>
                  <a:txBody>
                    <a:bodyPr/>
                    <a:lstStyle/>
                    <a:p>
                      <a:pPr algn="l"/>
                      <a:r>
                        <a:rPr lang="en-US" sz="1800" b="1" dirty="0">
                          <a:solidFill>
                            <a:schemeClr val="bg1"/>
                          </a:solidFill>
                          <a:latin typeface="Cambria" panose="02040503050406030204" pitchFamily="18" charset="0"/>
                          <a:ea typeface="Cambria" panose="02040503050406030204" pitchFamily="18" charset="0"/>
                        </a:rPr>
                        <a:t>5. Material /component</a:t>
                      </a:r>
                      <a:r>
                        <a:rPr lang="en-US" sz="1800" b="1" baseline="0" dirty="0">
                          <a:solidFill>
                            <a:schemeClr val="bg1"/>
                          </a:solidFill>
                          <a:latin typeface="Cambria" panose="02040503050406030204" pitchFamily="18" charset="0"/>
                          <a:ea typeface="Cambria" panose="02040503050406030204" pitchFamily="18" charset="0"/>
                        </a:rPr>
                        <a:t> purchase </a:t>
                      </a:r>
                      <a:endParaRPr lang="en-US" sz="1800" b="1" dirty="0">
                        <a:solidFill>
                          <a:schemeClr val="bg1"/>
                        </a:solidFill>
                        <a:latin typeface="Cambria" panose="02040503050406030204" pitchFamily="18" charset="0"/>
                        <a:ea typeface="Cambria" panose="02040503050406030204" pitchFamily="18" charset="0"/>
                      </a:endParaRPr>
                    </a:p>
                  </a:txBody>
                  <a:tcPr>
                    <a:solidFill>
                      <a:schemeClr val="bg2">
                        <a:lumMod val="25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extLst>
                  <a:ext uri="{0D108BD9-81ED-4DB2-BD59-A6C34878D82A}">
                    <a16:rowId xmlns:a16="http://schemas.microsoft.com/office/drawing/2014/main" val="10005"/>
                  </a:ext>
                </a:extLst>
              </a:tr>
              <a:tr h="502027">
                <a:tc>
                  <a:txBody>
                    <a:bodyPr/>
                    <a:lstStyle/>
                    <a:p>
                      <a:pPr algn="l"/>
                      <a:r>
                        <a:rPr lang="en-US" sz="1800" b="1" dirty="0">
                          <a:solidFill>
                            <a:schemeClr val="bg1"/>
                          </a:solidFill>
                          <a:latin typeface="Cambria" panose="02040503050406030204" pitchFamily="18" charset="0"/>
                          <a:ea typeface="Cambria" panose="02040503050406030204" pitchFamily="18" charset="0"/>
                        </a:rPr>
                        <a:t>6. Fabrication /experiment</a:t>
                      </a:r>
                      <a:r>
                        <a:rPr lang="en-US" sz="1800" b="1" baseline="0" dirty="0">
                          <a:solidFill>
                            <a:schemeClr val="bg1"/>
                          </a:solidFill>
                          <a:latin typeface="Cambria" panose="02040503050406030204" pitchFamily="18" charset="0"/>
                          <a:ea typeface="Cambria" panose="02040503050406030204" pitchFamily="18" charset="0"/>
                        </a:rPr>
                        <a:t> </a:t>
                      </a:r>
                      <a:endParaRPr lang="en-US" sz="1800" b="1" dirty="0">
                        <a:solidFill>
                          <a:schemeClr val="bg1"/>
                        </a:solidFill>
                        <a:latin typeface="Cambria" panose="02040503050406030204" pitchFamily="18" charset="0"/>
                        <a:ea typeface="Cambria" panose="02040503050406030204" pitchFamily="18" charset="0"/>
                      </a:endParaRPr>
                    </a:p>
                  </a:txBody>
                  <a:tcPr>
                    <a:solidFill>
                      <a:schemeClr val="bg2">
                        <a:lumMod val="25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extLst>
                  <a:ext uri="{0D108BD9-81ED-4DB2-BD59-A6C34878D82A}">
                    <a16:rowId xmlns:a16="http://schemas.microsoft.com/office/drawing/2014/main" val="10006"/>
                  </a:ext>
                </a:extLst>
              </a:tr>
              <a:tr h="535496">
                <a:tc>
                  <a:txBody>
                    <a:bodyPr/>
                    <a:lstStyle/>
                    <a:p>
                      <a:pPr algn="l"/>
                      <a:r>
                        <a:rPr lang="en-US" sz="1800" b="1" dirty="0">
                          <a:solidFill>
                            <a:schemeClr val="bg1"/>
                          </a:solidFill>
                          <a:latin typeface="Cambria" panose="02040503050406030204" pitchFamily="18" charset="0"/>
                          <a:ea typeface="Cambria" panose="02040503050406030204" pitchFamily="18" charset="0"/>
                        </a:rPr>
                        <a:t>7. Testing</a:t>
                      </a:r>
                      <a:r>
                        <a:rPr lang="en-US" sz="1800" b="1" baseline="0" dirty="0">
                          <a:solidFill>
                            <a:schemeClr val="bg1"/>
                          </a:solidFill>
                          <a:latin typeface="Cambria" panose="02040503050406030204" pitchFamily="18" charset="0"/>
                          <a:ea typeface="Cambria" panose="02040503050406030204" pitchFamily="18" charset="0"/>
                        </a:rPr>
                        <a:t> /characterization</a:t>
                      </a:r>
                      <a:endParaRPr lang="en-US" sz="1800" b="1" dirty="0">
                        <a:solidFill>
                          <a:schemeClr val="bg1"/>
                        </a:solidFill>
                        <a:latin typeface="Cambria" panose="02040503050406030204" pitchFamily="18" charset="0"/>
                        <a:ea typeface="Cambria" panose="02040503050406030204" pitchFamily="18" charset="0"/>
                      </a:endParaRPr>
                    </a:p>
                  </a:txBody>
                  <a:tcPr>
                    <a:solidFill>
                      <a:schemeClr val="bg2">
                        <a:lumMod val="25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extLst>
                  <a:ext uri="{0D108BD9-81ED-4DB2-BD59-A6C34878D82A}">
                    <a16:rowId xmlns:a16="http://schemas.microsoft.com/office/drawing/2014/main" val="10007"/>
                  </a:ext>
                </a:extLst>
              </a:tr>
              <a:tr h="518762">
                <a:tc>
                  <a:txBody>
                    <a:bodyPr/>
                    <a:lstStyle/>
                    <a:p>
                      <a:pPr algn="l"/>
                      <a:r>
                        <a:rPr lang="en-US" sz="1800" b="1" dirty="0">
                          <a:solidFill>
                            <a:schemeClr val="bg1"/>
                          </a:solidFill>
                          <a:latin typeface="Cambria" panose="02040503050406030204" pitchFamily="18" charset="0"/>
                          <a:ea typeface="Cambria" panose="02040503050406030204" pitchFamily="18" charset="0"/>
                        </a:rPr>
                        <a:t>8. Thesis writing </a:t>
                      </a:r>
                    </a:p>
                  </a:txBody>
                  <a:tcPr>
                    <a:solidFill>
                      <a:schemeClr val="bg2">
                        <a:lumMod val="25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extLst>
                  <a:ext uri="{0D108BD9-81ED-4DB2-BD59-A6C34878D82A}">
                    <a16:rowId xmlns:a16="http://schemas.microsoft.com/office/drawing/2014/main" val="10008"/>
                  </a:ext>
                </a:extLst>
              </a:tr>
              <a:tr h="662585">
                <a:tc>
                  <a:txBody>
                    <a:bodyPr/>
                    <a:lstStyle/>
                    <a:p>
                      <a:pPr algn="l"/>
                      <a:r>
                        <a:rPr lang="en-US" sz="1800" b="1" dirty="0">
                          <a:solidFill>
                            <a:schemeClr val="bg1"/>
                          </a:solidFill>
                          <a:latin typeface="Cambria" panose="02040503050406030204" pitchFamily="18" charset="0"/>
                          <a:ea typeface="Cambria" panose="02040503050406030204" pitchFamily="18" charset="0"/>
                        </a:rPr>
                        <a:t>9. PPT /project outcome preparation </a:t>
                      </a:r>
                    </a:p>
                  </a:txBody>
                  <a:tcPr>
                    <a:solidFill>
                      <a:schemeClr val="bg2">
                        <a:lumMod val="25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40000"/>
                        <a:lumOff val="60000"/>
                      </a:schemeClr>
                    </a:solidFill>
                  </a:tcPr>
                </a:tc>
                <a:extLst>
                  <a:ext uri="{0D108BD9-81ED-4DB2-BD59-A6C34878D82A}">
                    <a16:rowId xmlns:a16="http://schemas.microsoft.com/office/drawing/2014/main" val="10009"/>
                  </a:ext>
                </a:extLst>
              </a:tr>
              <a:tr h="535496">
                <a:tc>
                  <a:txBody>
                    <a:bodyPr/>
                    <a:lstStyle/>
                    <a:p>
                      <a:pPr algn="l"/>
                      <a:r>
                        <a:rPr lang="en-US" sz="1800" b="1" dirty="0">
                          <a:solidFill>
                            <a:schemeClr val="bg1"/>
                          </a:solidFill>
                          <a:latin typeface="Cambria" panose="02040503050406030204" pitchFamily="18" charset="0"/>
                          <a:ea typeface="Cambria" panose="02040503050406030204" pitchFamily="18" charset="0"/>
                        </a:rPr>
                        <a:t>10.</a:t>
                      </a:r>
                      <a:r>
                        <a:rPr lang="en-US" sz="1800" b="1" baseline="0" dirty="0">
                          <a:solidFill>
                            <a:schemeClr val="bg1"/>
                          </a:solidFill>
                          <a:latin typeface="Cambria" panose="02040503050406030204" pitchFamily="18" charset="0"/>
                          <a:ea typeface="Cambria" panose="02040503050406030204" pitchFamily="18" charset="0"/>
                        </a:rPr>
                        <a:t> Final review attending </a:t>
                      </a:r>
                      <a:endParaRPr lang="en-US" sz="1800" b="1" dirty="0">
                        <a:solidFill>
                          <a:schemeClr val="bg1"/>
                        </a:solidFill>
                        <a:latin typeface="Cambria" panose="02040503050406030204" pitchFamily="18" charset="0"/>
                        <a:ea typeface="Cambria" panose="02040503050406030204" pitchFamily="18" charset="0"/>
                      </a:endParaRPr>
                    </a:p>
                  </a:txBody>
                  <a:tcPr>
                    <a:solidFill>
                      <a:schemeClr val="bg2">
                        <a:lumMod val="25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tc>
                  <a:txBody>
                    <a:bodyPr/>
                    <a:lstStyle/>
                    <a:p>
                      <a:endParaRPr lang="en-US" dirty="0">
                        <a:latin typeface="Cambria" panose="02040503050406030204" pitchFamily="18" charset="0"/>
                        <a:ea typeface="Cambria" panose="02040503050406030204" pitchFamily="18" charset="0"/>
                      </a:endParaRPr>
                    </a:p>
                  </a:txBody>
                  <a:tcPr>
                    <a:solidFill>
                      <a:schemeClr val="accent6">
                        <a:lumMod val="20000"/>
                        <a:lumOff val="80000"/>
                      </a:schemeClr>
                    </a:solidFill>
                  </a:tcPr>
                </a:tc>
                <a:extLst>
                  <a:ext uri="{0D108BD9-81ED-4DB2-BD59-A6C34878D82A}">
                    <a16:rowId xmlns:a16="http://schemas.microsoft.com/office/drawing/2014/main" val="10010"/>
                  </a:ext>
                </a:extLst>
              </a:tr>
            </a:tbl>
          </a:graphicData>
        </a:graphic>
      </p:graphicFrame>
      <p:sp>
        <p:nvSpPr>
          <p:cNvPr id="2" name="Date Placeholder 1">
            <a:extLst>
              <a:ext uri="{FF2B5EF4-FFF2-40B4-BE49-F238E27FC236}">
                <a16:creationId xmlns:a16="http://schemas.microsoft.com/office/drawing/2014/main" id="{12A94A62-E4B2-E40A-7246-4551ADE0C0B0}"/>
              </a:ext>
            </a:extLst>
          </p:cNvPr>
          <p:cNvSpPr>
            <a:spLocks noGrp="1"/>
          </p:cNvSpPr>
          <p:nvPr>
            <p:ph type="dt" sz="half" idx="10"/>
          </p:nvPr>
        </p:nvSpPr>
        <p:spPr/>
        <p:txBody>
          <a:bodyPr/>
          <a:lstStyle/>
          <a:p>
            <a:fld id="{A6CE2CCD-8C71-40E6-BE5E-2B866E72FC05}" type="datetime1">
              <a:rPr lang="en-US" smtClean="0"/>
              <a:t>1/27/2026</a:t>
            </a:fld>
            <a:endParaRPr lang="en-US" dirty="0"/>
          </a:p>
        </p:txBody>
      </p:sp>
    </p:spTree>
    <p:extLst>
      <p:ext uri="{BB962C8B-B14F-4D97-AF65-F5344CB8AC3E}">
        <p14:creationId xmlns:p14="http://schemas.microsoft.com/office/powerpoint/2010/main" val="1138987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90EE39-82A8-4ECD-9F2F-122B8BC51252}" type="slidenum">
              <a:rPr lang="en-US" smtClean="0"/>
              <a:t>27</a:t>
            </a:fld>
            <a:endParaRPr lang="en-US" dirty="0"/>
          </a:p>
        </p:txBody>
      </p:sp>
      <p:sp>
        <p:nvSpPr>
          <p:cNvPr id="6" name="Title 1"/>
          <p:cNvSpPr txBox="1">
            <a:spLocks/>
          </p:cNvSpPr>
          <p:nvPr/>
        </p:nvSpPr>
        <p:spPr>
          <a:xfrm>
            <a:off x="0" y="1"/>
            <a:ext cx="12192000" cy="583323"/>
          </a:xfrm>
          <a:prstGeom prst="rect">
            <a:avLst/>
          </a:prstGeom>
          <a:solidFill>
            <a:schemeClr val="accent2">
              <a:lumMod val="40000"/>
              <a:lumOff val="60000"/>
            </a:schemeClr>
          </a:soli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Cambria" panose="02040503050406030204" pitchFamily="18" charset="0"/>
                <a:ea typeface="Cambria" panose="02040503050406030204" pitchFamily="18" charset="0"/>
              </a:rPr>
              <a:t>ACKNOWLEDGEMENT</a:t>
            </a:r>
            <a:endParaRPr lang="en-US" sz="2800"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F233FE71-BE89-33AB-70C8-2638075B7BE5}"/>
              </a:ext>
            </a:extLst>
          </p:cNvPr>
          <p:cNvSpPr txBox="1"/>
          <p:nvPr/>
        </p:nvSpPr>
        <p:spPr>
          <a:xfrm>
            <a:off x="0" y="6552198"/>
            <a:ext cx="11021438" cy="338554"/>
          </a:xfrm>
          <a:prstGeom prst="rect">
            <a:avLst/>
          </a:prstGeom>
          <a:solidFill>
            <a:schemeClr val="accent1">
              <a:lumMod val="40000"/>
              <a:lumOff val="60000"/>
            </a:schemeClr>
          </a:solidFill>
          <a:ln>
            <a:solidFill>
              <a:schemeClr val="accent1">
                <a:lumMod val="60000"/>
                <a:lumOff val="40000"/>
              </a:schemeClr>
            </a:solidFill>
          </a:ln>
          <a:effectLst/>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just"/>
            <a:r>
              <a:rPr lang="en-US" sz="1600" b="1" i="1" dirty="0">
                <a:solidFill>
                  <a:schemeClr val="tx1"/>
                </a:solidFill>
                <a:latin typeface="Cambria" panose="02040503050406030204" pitchFamily="18" charset="0"/>
                <a:ea typeface="Cambria" panose="02040503050406030204" pitchFamily="18" charset="0"/>
              </a:rPr>
              <a:t>57/ Project Title</a:t>
            </a:r>
            <a:endParaRPr lang="en-IN" sz="1600" i="1" dirty="0">
              <a:solidFill>
                <a:schemeClr val="tx1"/>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6A657B1C-8357-2359-338D-B47115BEA65F}"/>
              </a:ext>
            </a:extLst>
          </p:cNvPr>
          <p:cNvSpPr>
            <a:spLocks noGrp="1"/>
          </p:cNvSpPr>
          <p:nvPr>
            <p:ph type="dt" sz="half" idx="10"/>
          </p:nvPr>
        </p:nvSpPr>
        <p:spPr/>
        <p:txBody>
          <a:bodyPr/>
          <a:lstStyle/>
          <a:p>
            <a:fld id="{0CA55255-C9B1-4C73-8A9B-4AD80CDAF559}" type="datetime1">
              <a:rPr lang="en-US" smtClean="0"/>
              <a:t>1/27/2026</a:t>
            </a:fld>
            <a:endParaRPr lang="en-US" dirty="0"/>
          </a:p>
        </p:txBody>
      </p:sp>
    </p:spTree>
    <p:extLst>
      <p:ext uri="{BB962C8B-B14F-4D97-AF65-F5344CB8AC3E}">
        <p14:creationId xmlns:p14="http://schemas.microsoft.com/office/powerpoint/2010/main" val="334712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90EE39-82A8-4ECD-9F2F-122B8BC51252}" type="slidenum">
              <a:rPr lang="en-US" smtClean="0"/>
              <a:t>28</a:t>
            </a:fld>
            <a:endParaRPr lang="en-US" dirty="0"/>
          </a:p>
        </p:txBody>
      </p:sp>
      <p:pic>
        <p:nvPicPr>
          <p:cNvPr id="1026" name="Picture 2" descr="398,650 Thank You Images, Stock Photos &amp; Vectors | Shutterstock"/>
          <p:cNvPicPr>
            <a:picLocks noChangeAspect="1" noChangeArrowheads="1"/>
          </p:cNvPicPr>
          <p:nvPr/>
        </p:nvPicPr>
        <p:blipFill rotWithShape="1">
          <a:blip r:embed="rId2">
            <a:extLst>
              <a:ext uri="{28A0092B-C50C-407E-A947-70E740481C1C}">
                <a14:useLocalDpi xmlns:a14="http://schemas.microsoft.com/office/drawing/2010/main" val="0"/>
              </a:ext>
            </a:extLst>
          </a:blip>
          <a:srcRect b="7689"/>
          <a:stretch/>
        </p:blipFill>
        <p:spPr bwMode="auto">
          <a:xfrm>
            <a:off x="2425937" y="1180356"/>
            <a:ext cx="6576173" cy="21847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QUERIES | BHU Connect"/>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870"/>
          <a:stretch/>
        </p:blipFill>
        <p:spPr bwMode="auto">
          <a:xfrm>
            <a:off x="4058271" y="3926597"/>
            <a:ext cx="3735879" cy="208315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42A6137D-ABE5-E8E3-A40D-C8B9CD5DD417}"/>
              </a:ext>
            </a:extLst>
          </p:cNvPr>
          <p:cNvSpPr>
            <a:spLocks noGrp="1"/>
          </p:cNvSpPr>
          <p:nvPr>
            <p:ph type="dt" sz="half" idx="10"/>
          </p:nvPr>
        </p:nvSpPr>
        <p:spPr/>
        <p:txBody>
          <a:bodyPr/>
          <a:lstStyle/>
          <a:p>
            <a:fld id="{ADF7D027-B2D3-461F-BB79-0B806517C5B9}" type="datetime1">
              <a:rPr lang="en-US" smtClean="0"/>
              <a:t>1/27/2026</a:t>
            </a:fld>
            <a:endParaRPr lang="en-US" dirty="0"/>
          </a:p>
        </p:txBody>
      </p:sp>
    </p:spTree>
    <p:extLst>
      <p:ext uri="{BB962C8B-B14F-4D97-AF65-F5344CB8AC3E}">
        <p14:creationId xmlns:p14="http://schemas.microsoft.com/office/powerpoint/2010/main" val="16195198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902</TotalTime>
  <Words>1753</Words>
  <Application>Microsoft Office PowerPoint</Application>
  <PresentationFormat>Widescreen</PresentationFormat>
  <Paragraphs>317</Paragraphs>
  <Slides>28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Arial Narrow</vt:lpstr>
      <vt:lpstr>Calibri</vt:lpstr>
      <vt:lpstr>Calibri Light</vt:lpstr>
      <vt:lpstr>Cambria</vt:lpstr>
      <vt:lpstr>Times New Roman</vt:lpstr>
      <vt:lpstr>Office Theme</vt:lpstr>
      <vt:lpstr>PowerPoint Presentation</vt:lpstr>
      <vt:lpstr>PRESENTATION OUTLINE </vt:lpstr>
      <vt:lpstr>DESIGN THINKING STEPS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Aravind B</cp:lastModifiedBy>
  <cp:revision>116</cp:revision>
  <dcterms:created xsi:type="dcterms:W3CDTF">2023-02-17T08:15:43Z</dcterms:created>
  <dcterms:modified xsi:type="dcterms:W3CDTF">2026-01-27T04:15:57Z</dcterms:modified>
</cp:coreProperties>
</file>